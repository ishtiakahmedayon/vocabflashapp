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9"/>
  </p:notesMasterIdLst>
  <p:sldIdLst>
    <p:sldId id="256" r:id="rId2"/>
    <p:sldId id="257" r:id="rId3"/>
    <p:sldId id="258" r:id="rId4"/>
    <p:sldId id="313" r:id="rId5"/>
    <p:sldId id="260" r:id="rId6"/>
    <p:sldId id="261" r:id="rId7"/>
    <p:sldId id="262" r:id="rId8"/>
    <p:sldId id="297" r:id="rId9"/>
    <p:sldId id="263" r:id="rId10"/>
    <p:sldId id="298" r:id="rId11"/>
    <p:sldId id="299" r:id="rId12"/>
    <p:sldId id="300" r:id="rId13"/>
    <p:sldId id="301" r:id="rId14"/>
    <p:sldId id="311" r:id="rId15"/>
    <p:sldId id="302" r:id="rId16"/>
    <p:sldId id="303" r:id="rId17"/>
    <p:sldId id="309" r:id="rId18"/>
    <p:sldId id="304" r:id="rId19"/>
    <p:sldId id="305" r:id="rId20"/>
    <p:sldId id="306" r:id="rId21"/>
    <p:sldId id="310" r:id="rId22"/>
    <p:sldId id="307" r:id="rId23"/>
    <p:sldId id="308" r:id="rId24"/>
    <p:sldId id="312" r:id="rId25"/>
    <p:sldId id="314" r:id="rId26"/>
    <p:sldId id="315" r:id="rId27"/>
    <p:sldId id="266" r:id="rId28"/>
  </p:sldIdLst>
  <p:sldSz cx="9144000" cy="5143500" type="screen16x9"/>
  <p:notesSz cx="6858000" cy="9144000"/>
  <p:embeddedFontLst>
    <p:embeddedFont>
      <p:font typeface="Anaheim" panose="020B0604020202020204" charset="0"/>
      <p:regular r:id="rId30"/>
      <p:bold r:id="rId31"/>
    </p:embeddedFont>
    <p:embeddedFont>
      <p:font typeface="Hanken Grotesk" pitchFamily="2" charset="0"/>
      <p:regular r:id="rId32"/>
      <p:bold r:id="rId33"/>
      <p:italic r:id="rId34"/>
      <p:boldItalic r:id="rId35"/>
    </p:embeddedFont>
    <p:embeddedFont>
      <p:font typeface="Raleway Black" pitchFamily="2" charset="0"/>
      <p:bold r:id="rId36"/>
      <p:boldItalic r:id="rId37"/>
    </p:embeddedFont>
    <p:embeddedFont>
      <p:font typeface="Raleway ExtraBold" pitchFamily="2" charset="0"/>
      <p:bold r:id="rId38"/>
      <p:boldItalic r:id="rId39"/>
    </p:embeddedFont>
    <p:embeddedFont>
      <p:font typeface="Raleway Medium" pitchFamily="2" charset="0"/>
      <p:regular r:id="rId40"/>
      <p: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C1CE8D-20E7-4F5E-9BAF-225F6E7F5D2F}">
  <a:tblStyle styleId="{36C1CE8D-20E7-4F5E-9BAF-225F6E7F5D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11A767F-01EE-453B-87A1-B24CF16B5A1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98F77A6E-E723-FED7-2A36-E851C9E1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>
            <a:extLst>
              <a:ext uri="{FF2B5EF4-FFF2-40B4-BE49-F238E27FC236}">
                <a16:creationId xmlns:a16="http://schemas.microsoft.com/office/drawing/2014/main" id="{AB4B52C7-50C9-2022-55C0-5BA3FFB238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>
            <a:extLst>
              <a:ext uri="{FF2B5EF4-FFF2-40B4-BE49-F238E27FC236}">
                <a16:creationId xmlns:a16="http://schemas.microsoft.com/office/drawing/2014/main" id="{D93BB68D-7197-8231-1411-D069A3A49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436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F8D3071C-D94D-7A18-C364-3995F80C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>
            <a:extLst>
              <a:ext uri="{FF2B5EF4-FFF2-40B4-BE49-F238E27FC236}">
                <a16:creationId xmlns:a16="http://schemas.microsoft.com/office/drawing/2014/main" id="{6410CB75-BF97-1065-722B-1F45B9E2F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>
            <a:extLst>
              <a:ext uri="{FF2B5EF4-FFF2-40B4-BE49-F238E27FC236}">
                <a16:creationId xmlns:a16="http://schemas.microsoft.com/office/drawing/2014/main" id="{625CBE36-1F69-80CA-7B87-36BA1417DB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990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66D24712-9553-2208-F249-23C105DD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>
            <a:extLst>
              <a:ext uri="{FF2B5EF4-FFF2-40B4-BE49-F238E27FC236}">
                <a16:creationId xmlns:a16="http://schemas.microsoft.com/office/drawing/2014/main" id="{615493E0-EDE7-55BD-641F-E9CAA50AD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>
            <a:extLst>
              <a:ext uri="{FF2B5EF4-FFF2-40B4-BE49-F238E27FC236}">
                <a16:creationId xmlns:a16="http://schemas.microsoft.com/office/drawing/2014/main" id="{F9B639D7-3642-04ED-B09A-F4DC2C97F1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799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C6349141-A396-3C1C-D3C3-A026D6E0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E4EA9EDC-0813-D2BA-5B8D-AA1752F33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0794BF7F-1369-6DE2-7DE3-810282D3E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72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4EF29A43-21AD-62B1-BF41-D713F8A9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>
            <a:extLst>
              <a:ext uri="{FF2B5EF4-FFF2-40B4-BE49-F238E27FC236}">
                <a16:creationId xmlns:a16="http://schemas.microsoft.com/office/drawing/2014/main" id="{B675070C-718B-1E5C-B050-75FB0BEE2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>
            <a:extLst>
              <a:ext uri="{FF2B5EF4-FFF2-40B4-BE49-F238E27FC236}">
                <a16:creationId xmlns:a16="http://schemas.microsoft.com/office/drawing/2014/main" id="{36D66AC6-FEDD-C662-BD19-D7733AA8D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9445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61C81611-36C5-DFE3-FE2E-65BFC4F5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E014DA7C-3F97-B9F8-0003-97D5E08C1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08427DBE-75A2-8386-F3C2-F48CF45F3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30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8CE19D73-8756-9D79-0DCA-0559D367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8E883837-3B80-83F5-3E51-8774788276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C4E21D81-E703-707E-AEF4-1F7763C04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043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C34D1CC7-E92B-1C42-9E34-ACAED3AC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>
            <a:extLst>
              <a:ext uri="{FF2B5EF4-FFF2-40B4-BE49-F238E27FC236}">
                <a16:creationId xmlns:a16="http://schemas.microsoft.com/office/drawing/2014/main" id="{9C9ADEC5-014E-3B0B-027A-DA0158B53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>
            <a:extLst>
              <a:ext uri="{FF2B5EF4-FFF2-40B4-BE49-F238E27FC236}">
                <a16:creationId xmlns:a16="http://schemas.microsoft.com/office/drawing/2014/main" id="{B90A9496-B9E2-0B0D-3B1B-577326D2C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3203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ECC0CB02-5265-ABDE-8643-1DBA4B4CF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78C20072-6C62-4590-6C5D-7473498214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19C7EE3E-CDAA-F999-AEB3-CAD2469175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0156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BD8B542B-504E-BF8C-9535-A2C2F3EB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6099FEB2-6D07-B0C9-90FD-B7CF8EFE9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F59723BD-DEE3-599B-B3E3-3EB686954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295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9A664813-C078-3F97-5D21-81D3FE09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>
            <a:extLst>
              <a:ext uri="{FF2B5EF4-FFF2-40B4-BE49-F238E27FC236}">
                <a16:creationId xmlns:a16="http://schemas.microsoft.com/office/drawing/2014/main" id="{B63E3C60-6449-EA6D-9CB2-424B99F78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>
            <a:extLst>
              <a:ext uri="{FF2B5EF4-FFF2-40B4-BE49-F238E27FC236}">
                <a16:creationId xmlns:a16="http://schemas.microsoft.com/office/drawing/2014/main" id="{88134127-4E19-B73E-030E-FB43AB7FE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49256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0EB2EA0C-BEC7-7A8D-1B6F-61AE76323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7E71A44B-811A-4C00-D0C8-FD955F651E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FEC0FF92-EE32-0C88-14FF-6CE071E46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9809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9E043B08-2951-D76D-6926-A093EA65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DB41B856-6FDA-6829-9701-4D6CA378B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EAABB5D6-D3B1-D9BD-C9C0-419CBE582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4139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2F2C0CB4-FDF4-F05F-74F5-58E07628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BC73D96D-3E1A-8095-D6C0-F7183BC72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D69CBFE6-49FD-6EE9-8F32-05A22573F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799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2FAF0101-0C1D-A32A-E95B-7A50196B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>
            <a:extLst>
              <a:ext uri="{FF2B5EF4-FFF2-40B4-BE49-F238E27FC236}">
                <a16:creationId xmlns:a16="http://schemas.microsoft.com/office/drawing/2014/main" id="{3FB6534C-D6E6-E376-51B7-5C1FF19D2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>
            <a:extLst>
              <a:ext uri="{FF2B5EF4-FFF2-40B4-BE49-F238E27FC236}">
                <a16:creationId xmlns:a16="http://schemas.microsoft.com/office/drawing/2014/main" id="{1D47DAF4-D87E-E9A3-6C52-19AEEB4C9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108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002D3E56-2773-D044-7A0F-41F7137B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6E214BB4-FBBE-C540-D6B4-EE2C1AA85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83776647-C0BC-8167-ABE6-82157D837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60329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581FCF56-5789-B1A3-96AA-041148470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E617173E-D5F9-8888-ABAE-EFB9C6D44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B7917D9C-EED8-0308-C668-0972F6C8E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899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>
          <a:extLst>
            <a:ext uri="{FF2B5EF4-FFF2-40B4-BE49-F238E27FC236}">
              <a16:creationId xmlns:a16="http://schemas.microsoft.com/office/drawing/2014/main" id="{8F46197C-A639-31C5-DC0A-67F90F75C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>
            <a:extLst>
              <a:ext uri="{FF2B5EF4-FFF2-40B4-BE49-F238E27FC236}">
                <a16:creationId xmlns:a16="http://schemas.microsoft.com/office/drawing/2014/main" id="{51CE7BB9-4202-1281-ED51-DD3097238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>
            <a:extLst>
              <a:ext uri="{FF2B5EF4-FFF2-40B4-BE49-F238E27FC236}">
                <a16:creationId xmlns:a16="http://schemas.microsoft.com/office/drawing/2014/main" id="{A62ADA27-D8CC-A1F7-9060-3610F8A82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1494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>
          <a:extLst>
            <a:ext uri="{FF2B5EF4-FFF2-40B4-BE49-F238E27FC236}">
              <a16:creationId xmlns:a16="http://schemas.microsoft.com/office/drawing/2014/main" id="{F307B90B-7BCD-A72E-0484-63E74FC6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>
            <a:extLst>
              <a:ext uri="{FF2B5EF4-FFF2-40B4-BE49-F238E27FC236}">
                <a16:creationId xmlns:a16="http://schemas.microsoft.com/office/drawing/2014/main" id="{12A33D6E-BD72-8BB2-57B0-F0FDF80F92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>
            <a:extLst>
              <a:ext uri="{FF2B5EF4-FFF2-40B4-BE49-F238E27FC236}">
                <a16:creationId xmlns:a16="http://schemas.microsoft.com/office/drawing/2014/main" id="{10DADAD8-ACEE-A061-A0DB-539A79BB8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06311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2" r:id="rId11"/>
    <p:sldLayoutId id="2147483663" r:id="rId12"/>
    <p:sldLayoutId id="2147483669" r:id="rId13"/>
    <p:sldLayoutId id="2147483670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0335" y="1507311"/>
            <a:ext cx="6348314" cy="10737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– I :  VocabFlash App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36900" y="2669715"/>
            <a:ext cx="5005788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A simple lightweight Vocabulary Flashcards App</a:t>
            </a:r>
            <a:endParaRPr sz="1600"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89075" y="2118892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E251E7-AFDC-02C4-470A-B531966F1A87}"/>
              </a:ext>
            </a:extLst>
          </p:cNvPr>
          <p:cNvSpPr/>
          <p:nvPr/>
        </p:nvSpPr>
        <p:spPr>
          <a:xfrm>
            <a:off x="720000" y="2227655"/>
            <a:ext cx="3159512" cy="1709853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EE4107-3585-3250-E2C5-4E23AFB9639C}"/>
              </a:ext>
            </a:extLst>
          </p:cNvPr>
          <p:cNvSpPr/>
          <p:nvPr/>
        </p:nvSpPr>
        <p:spPr>
          <a:xfrm>
            <a:off x="5025483" y="2233962"/>
            <a:ext cx="3159512" cy="1709853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4"/>
            <a:ext cx="7704000" cy="893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Project-I : </a:t>
            </a:r>
            <a:r>
              <a:rPr lang="en-US" dirty="0" err="1">
                <a:solidFill>
                  <a:schemeClr val="bg1">
                    <a:lumMod val="60000"/>
                    <a:lumOff val="40000"/>
                  </a:schemeClr>
                </a:solidFill>
              </a:rPr>
              <a:t>VocabFlash</a:t>
            </a:r>
            <a:b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Course Code: ICT 1200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00" name="Google Shape;700;p29"/>
          <p:cNvSpPr txBox="1">
            <a:spLocks noGrp="1"/>
          </p:cNvSpPr>
          <p:nvPr>
            <p:ph type="body" idx="1"/>
          </p:nvPr>
        </p:nvSpPr>
        <p:spPr>
          <a:xfrm>
            <a:off x="846380" y="2347728"/>
            <a:ext cx="2937599" cy="158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ISHTIAK AHMED AYON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ID: IT24039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chemeClr val="bg2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SANJITH SAHA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ID: IT24044</a:t>
            </a:r>
            <a:endParaRPr sz="1600" b="1" dirty="0">
              <a:solidFill>
                <a:schemeClr val="bg2"/>
              </a:solidFill>
            </a:endParaRPr>
          </a:p>
        </p:txBody>
      </p:sp>
      <p:sp>
        <p:nvSpPr>
          <p:cNvPr id="2" name="Google Shape;699;p29">
            <a:extLst>
              <a:ext uri="{FF2B5EF4-FFF2-40B4-BE49-F238E27FC236}">
                <a16:creationId xmlns:a16="http://schemas.microsoft.com/office/drawing/2014/main" id="{B3BD6DA7-A35F-51BD-BC4F-265354AF9C2B}"/>
              </a:ext>
            </a:extLst>
          </p:cNvPr>
          <p:cNvSpPr txBox="1">
            <a:spLocks/>
          </p:cNvSpPr>
          <p:nvPr/>
        </p:nvSpPr>
        <p:spPr>
          <a:xfrm>
            <a:off x="1069405" y="1797193"/>
            <a:ext cx="2104976" cy="32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b="1" dirty="0">
                <a:latin typeface="Raleway Medium" pitchFamily="2" charset="0"/>
              </a:rPr>
              <a:t>SUBMITTED BY,</a:t>
            </a:r>
          </a:p>
        </p:txBody>
      </p:sp>
      <p:sp>
        <p:nvSpPr>
          <p:cNvPr id="3" name="Google Shape;699;p29">
            <a:extLst>
              <a:ext uri="{FF2B5EF4-FFF2-40B4-BE49-F238E27FC236}">
                <a16:creationId xmlns:a16="http://schemas.microsoft.com/office/drawing/2014/main" id="{B3E297D9-F0C9-BA8C-D9A3-BB7EC9655C8C}"/>
              </a:ext>
            </a:extLst>
          </p:cNvPr>
          <p:cNvSpPr txBox="1">
            <a:spLocks/>
          </p:cNvSpPr>
          <p:nvPr/>
        </p:nvSpPr>
        <p:spPr>
          <a:xfrm>
            <a:off x="5511307" y="1814086"/>
            <a:ext cx="1952576" cy="32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1600" b="1" dirty="0">
                <a:solidFill>
                  <a:schemeClr val="accent4"/>
                </a:solidFill>
                <a:latin typeface="Raleway Medium" pitchFamily="2" charset="0"/>
              </a:rPr>
              <a:t>SUPERVISED BY, </a:t>
            </a:r>
          </a:p>
        </p:txBody>
      </p:sp>
      <p:sp>
        <p:nvSpPr>
          <p:cNvPr id="4" name="Google Shape;700;p29">
            <a:extLst>
              <a:ext uri="{FF2B5EF4-FFF2-40B4-BE49-F238E27FC236}">
                <a16:creationId xmlns:a16="http://schemas.microsoft.com/office/drawing/2014/main" id="{526A6290-D5B7-0D43-3B7F-99BBFC0661AD}"/>
              </a:ext>
            </a:extLst>
          </p:cNvPr>
          <p:cNvSpPr txBox="1">
            <a:spLocks/>
          </p:cNvSpPr>
          <p:nvPr/>
        </p:nvSpPr>
        <p:spPr>
          <a:xfrm>
            <a:off x="5136439" y="2579391"/>
            <a:ext cx="2937599" cy="1589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 algn="ctr">
              <a:buFont typeface="Hanken Grotesk"/>
              <a:buNone/>
            </a:pPr>
            <a:r>
              <a:rPr lang="en-US" sz="1600" b="1" dirty="0">
                <a:solidFill>
                  <a:schemeClr val="bg2"/>
                </a:solidFill>
              </a:rPr>
              <a:t>DR. ZIAUR RAHMAN </a:t>
            </a:r>
          </a:p>
          <a:p>
            <a:pPr marL="0" indent="0" algn="ctr">
              <a:buFont typeface="Hanken Grotesk"/>
              <a:buNone/>
            </a:pPr>
            <a:r>
              <a:rPr lang="en-US" sz="1600" b="1" dirty="0">
                <a:solidFill>
                  <a:schemeClr val="bg2"/>
                </a:solidFill>
              </a:rPr>
              <a:t>ASSOCIATE PROFESSOR,</a:t>
            </a:r>
          </a:p>
          <a:p>
            <a:pPr marL="0" indent="0" algn="ctr">
              <a:buFont typeface="Hanken Grotesk"/>
              <a:buNone/>
            </a:pPr>
            <a:r>
              <a:rPr lang="en-US" sz="1600" b="1" dirty="0">
                <a:solidFill>
                  <a:schemeClr val="bg2"/>
                </a:solidFill>
              </a:rPr>
              <a:t>DEPT OF 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3896644" y="16166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3063056" y="104712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1" name="Google Shape;711;p30"/>
          <p:cNvSpPr txBox="1">
            <a:spLocks noGrp="1"/>
          </p:cNvSpPr>
          <p:nvPr>
            <p:ph type="title" idx="3"/>
          </p:nvPr>
        </p:nvSpPr>
        <p:spPr>
          <a:xfrm>
            <a:off x="3063056" y="275022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3063056" y="161482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13" name="Google Shape;713;p30"/>
          <p:cNvSpPr txBox="1">
            <a:spLocks noGrp="1"/>
          </p:cNvSpPr>
          <p:nvPr>
            <p:ph type="title" idx="5"/>
          </p:nvPr>
        </p:nvSpPr>
        <p:spPr>
          <a:xfrm>
            <a:off x="3063056" y="331791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3063056" y="2182524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15" name="Google Shape;715;p30"/>
          <p:cNvSpPr txBox="1">
            <a:spLocks noGrp="1"/>
          </p:cNvSpPr>
          <p:nvPr>
            <p:ph type="title" idx="7"/>
          </p:nvPr>
        </p:nvSpPr>
        <p:spPr>
          <a:xfrm>
            <a:off x="3063056" y="388561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3896644" y="10489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17" name="Google Shape;717;p30"/>
          <p:cNvSpPr txBox="1">
            <a:spLocks noGrp="1"/>
          </p:cNvSpPr>
          <p:nvPr>
            <p:ph type="subTitle" idx="9"/>
          </p:nvPr>
        </p:nvSpPr>
        <p:spPr>
          <a:xfrm>
            <a:off x="3896644" y="21843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TOOLS AND TECH USED</a:t>
            </a:r>
            <a:endParaRPr dirty="0"/>
          </a:p>
        </p:txBody>
      </p:sp>
      <p:sp>
        <p:nvSpPr>
          <p:cNvPr id="718" name="Google Shape;718;p30"/>
          <p:cNvSpPr txBox="1">
            <a:spLocks noGrp="1"/>
          </p:cNvSpPr>
          <p:nvPr>
            <p:ph type="subTitle" idx="13"/>
          </p:nvPr>
        </p:nvSpPr>
        <p:spPr>
          <a:xfrm>
            <a:off x="3896641" y="27520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APPLICATION LOGIC</a:t>
            </a:r>
            <a:endParaRPr dirty="0"/>
          </a:p>
        </p:txBody>
      </p:sp>
      <p:sp>
        <p:nvSpPr>
          <p:cNvPr id="719" name="Google Shape;719;p30"/>
          <p:cNvSpPr txBox="1">
            <a:spLocks noGrp="1"/>
          </p:cNvSpPr>
          <p:nvPr>
            <p:ph type="subTitle" idx="14"/>
          </p:nvPr>
        </p:nvSpPr>
        <p:spPr>
          <a:xfrm>
            <a:off x="3896641" y="33197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FEATURES &amp; INTERFACE DESIGN</a:t>
            </a:r>
            <a:endParaRPr dirty="0"/>
          </a:p>
        </p:txBody>
      </p:sp>
      <p:sp>
        <p:nvSpPr>
          <p:cNvPr id="720" name="Google Shape;720;p30"/>
          <p:cNvSpPr txBox="1">
            <a:spLocks noGrp="1"/>
          </p:cNvSpPr>
          <p:nvPr>
            <p:ph type="subTitle" idx="15"/>
          </p:nvPr>
        </p:nvSpPr>
        <p:spPr>
          <a:xfrm>
            <a:off x="3896641" y="38874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CODE</a:t>
            </a:r>
            <a:endParaRPr dirty="0"/>
          </a:p>
        </p:txBody>
      </p:sp>
      <p:grpSp>
        <p:nvGrpSpPr>
          <p:cNvPr id="721" name="Google Shape;721;p30"/>
          <p:cNvGrpSpPr/>
          <p:nvPr/>
        </p:nvGrpSpPr>
        <p:grpSpPr>
          <a:xfrm>
            <a:off x="1339375" y="1762000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Google Shape;715;p30">
            <a:extLst>
              <a:ext uri="{FF2B5EF4-FFF2-40B4-BE49-F238E27FC236}">
                <a16:creationId xmlns:a16="http://schemas.microsoft.com/office/drawing/2014/main" id="{977AF71D-B56F-ECE0-812E-2C8C3362E49E}"/>
              </a:ext>
            </a:extLst>
          </p:cNvPr>
          <p:cNvSpPr txBox="1">
            <a:spLocks/>
          </p:cNvSpPr>
          <p:nvPr/>
        </p:nvSpPr>
        <p:spPr>
          <a:xfrm>
            <a:off x="3063056" y="4453313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20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en"/>
              <a:t>06</a:t>
            </a:r>
            <a:endParaRPr lang="en" dirty="0"/>
          </a:p>
        </p:txBody>
      </p:sp>
      <p:sp>
        <p:nvSpPr>
          <p:cNvPr id="3" name="Google Shape;720;p30">
            <a:extLst>
              <a:ext uri="{FF2B5EF4-FFF2-40B4-BE49-F238E27FC236}">
                <a16:creationId xmlns:a16="http://schemas.microsoft.com/office/drawing/2014/main" id="{7B7878FB-5579-ACE5-ABB5-8C58E6BD1D01}"/>
              </a:ext>
            </a:extLst>
          </p:cNvPr>
          <p:cNvSpPr txBox="1">
            <a:spLocks/>
          </p:cNvSpPr>
          <p:nvPr/>
        </p:nvSpPr>
        <p:spPr>
          <a:xfrm>
            <a:off x="3896641" y="4451522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en-US" dirty="0"/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>
          <a:extLst>
            <a:ext uri="{FF2B5EF4-FFF2-40B4-BE49-F238E27FC236}">
              <a16:creationId xmlns:a16="http://schemas.microsoft.com/office/drawing/2014/main" id="{4BB1C1FF-17C9-41F1-CA38-A2D9F2E4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>
            <a:extLst>
              <a:ext uri="{FF2B5EF4-FFF2-40B4-BE49-F238E27FC236}">
                <a16:creationId xmlns:a16="http://schemas.microsoft.com/office/drawing/2014/main" id="{20FA0536-9696-49C6-0D84-A3E3ECE591F3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896644" y="256150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FUTURE SCOPE</a:t>
            </a:r>
            <a:endParaRPr dirty="0"/>
          </a:p>
        </p:txBody>
      </p:sp>
      <p:sp>
        <p:nvSpPr>
          <p:cNvPr id="709" name="Google Shape;709;p30">
            <a:extLst>
              <a:ext uri="{FF2B5EF4-FFF2-40B4-BE49-F238E27FC236}">
                <a16:creationId xmlns:a16="http://schemas.microsoft.com/office/drawing/2014/main" id="{5B31AD66-F62D-50F6-4F0A-76479540CD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10" name="Google Shape;710;p30">
            <a:extLst>
              <a:ext uri="{FF2B5EF4-FFF2-40B4-BE49-F238E27FC236}">
                <a16:creationId xmlns:a16="http://schemas.microsoft.com/office/drawing/2014/main" id="{F302ABF6-F180-82F1-0E3A-1B7CCB7543C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63056" y="199200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712" name="Google Shape;712;p30">
            <a:extLst>
              <a:ext uri="{FF2B5EF4-FFF2-40B4-BE49-F238E27FC236}">
                <a16:creationId xmlns:a16="http://schemas.microsoft.com/office/drawing/2014/main" id="{C237FD58-AD63-6314-8AA9-9B76186D297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063056" y="2559706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716" name="Google Shape;716;p30">
            <a:extLst>
              <a:ext uri="{FF2B5EF4-FFF2-40B4-BE49-F238E27FC236}">
                <a16:creationId xmlns:a16="http://schemas.microsoft.com/office/drawing/2014/main" id="{304C191E-DEAD-954E-6CB0-F3D4075D53C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96644" y="199380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OUTPUT EXAMPLES</a:t>
            </a:r>
            <a:endParaRPr dirty="0"/>
          </a:p>
        </p:txBody>
      </p:sp>
      <p:grpSp>
        <p:nvGrpSpPr>
          <p:cNvPr id="721" name="Google Shape;721;p30">
            <a:extLst>
              <a:ext uri="{FF2B5EF4-FFF2-40B4-BE49-F238E27FC236}">
                <a16:creationId xmlns:a16="http://schemas.microsoft.com/office/drawing/2014/main" id="{F66D8784-3C76-7BB4-8187-D64F547EF1BE}"/>
              </a:ext>
            </a:extLst>
          </p:cNvPr>
          <p:cNvGrpSpPr/>
          <p:nvPr/>
        </p:nvGrpSpPr>
        <p:grpSpPr>
          <a:xfrm>
            <a:off x="1339375" y="1762000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>
              <a:extLst>
                <a:ext uri="{FF2B5EF4-FFF2-40B4-BE49-F238E27FC236}">
                  <a16:creationId xmlns:a16="http://schemas.microsoft.com/office/drawing/2014/main" id="{F58FD337-1A56-1664-07E8-DC480691D3D7}"/>
                </a:ext>
              </a:extLst>
            </p:cNvPr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>
                <a:extLst>
                  <a:ext uri="{FF2B5EF4-FFF2-40B4-BE49-F238E27FC236}">
                    <a16:creationId xmlns:a16="http://schemas.microsoft.com/office/drawing/2014/main" id="{5F820EB3-D44E-70C0-9563-3FB86B83720D}"/>
                  </a:ext>
                </a:extLst>
              </p:cNvPr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>
                <a:extLst>
                  <a:ext uri="{FF2B5EF4-FFF2-40B4-BE49-F238E27FC236}">
                    <a16:creationId xmlns:a16="http://schemas.microsoft.com/office/drawing/2014/main" id="{4D099F19-91C1-2C9A-D0E1-056E53931D6E}"/>
                  </a:ext>
                </a:extLst>
              </p:cNvPr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>
              <a:extLst>
                <a:ext uri="{FF2B5EF4-FFF2-40B4-BE49-F238E27FC236}">
                  <a16:creationId xmlns:a16="http://schemas.microsoft.com/office/drawing/2014/main" id="{0629F400-1721-4708-68F5-D82F43F7C515}"/>
                </a:ext>
              </a:extLst>
            </p:cNvPr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5027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40" name="Google Shape;740;p32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60000"/>
                    <a:lumOff val="40000"/>
                  </a:schemeClr>
                </a:solidFill>
              </a:rPr>
              <a:t>INTRODUCTION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865745" y="2960217"/>
            <a:ext cx="7051337" cy="1181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The Vocabulary Flash Card App is a desktop learning tool that displays</a:t>
            </a:r>
          </a:p>
          <a:p>
            <a:r>
              <a:rPr lang="en-US" sz="1600" dirty="0"/>
              <a:t>random English words along with their </a:t>
            </a:r>
            <a:r>
              <a:rPr lang="en-US" sz="1600" dirty="0" err="1"/>
              <a:t>meanings.It</a:t>
            </a:r>
            <a:r>
              <a:rPr lang="en-US" sz="1600" dirty="0"/>
              <a:t> is a small educational</a:t>
            </a:r>
          </a:p>
          <a:p>
            <a:r>
              <a:rPr lang="en-US" sz="1600" dirty="0"/>
              <a:t>project developed using </a:t>
            </a:r>
            <a:r>
              <a:rPr lang="en-US" sz="1600" b="1" dirty="0"/>
              <a:t>C++ Builder’s Visual Component Library (VCL)</a:t>
            </a:r>
          </a:p>
          <a:p>
            <a:r>
              <a:rPr lang="en-US" sz="1600" dirty="0"/>
              <a:t>for building GUI applications.</a:t>
            </a:r>
          </a:p>
        </p:txBody>
      </p:sp>
      <p:sp>
        <p:nvSpPr>
          <p:cNvPr id="765" name="Google Shape;765;p33"/>
          <p:cNvSpPr/>
          <p:nvPr/>
        </p:nvSpPr>
        <p:spPr>
          <a:xfrm>
            <a:off x="1271272" y="1838384"/>
            <a:ext cx="345150" cy="344900"/>
          </a:xfrm>
          <a:custGeom>
            <a:avLst/>
            <a:gdLst/>
            <a:ahLst/>
            <a:cxnLst/>
            <a:rect l="l" t="t" r="r" b="b"/>
            <a:pathLst>
              <a:path w="13806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70DF5-9180-69B6-37B6-5CC01ABFEA9E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545712" y="1794658"/>
            <a:ext cx="3167431" cy="483000"/>
          </a:xfrm>
        </p:spPr>
        <p:txBody>
          <a:bodyPr/>
          <a:lstStyle/>
          <a:p>
            <a:r>
              <a:rPr lang="en-US" sz="2400" dirty="0" err="1">
                <a:solidFill>
                  <a:schemeClr val="bg1">
                    <a:lumMod val="60000"/>
                    <a:lumOff val="40000"/>
                  </a:schemeClr>
                </a:solidFill>
              </a:rPr>
              <a:t>VocabFlash</a:t>
            </a:r>
            <a:r>
              <a:rPr lang="en-US" sz="24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A01D2-F222-B8E8-068E-8C9A69550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223" y="628304"/>
            <a:ext cx="2346697" cy="19718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60000"/>
                    <a:lumOff val="40000"/>
                  </a:schemeClr>
                </a:solidFill>
              </a:rPr>
              <a:t>Main Ideas OF VocabFlash: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2" name="Google Shape;772;p34"/>
          <p:cNvSpPr txBox="1">
            <a:spLocks noGrp="1"/>
          </p:cNvSpPr>
          <p:nvPr>
            <p:ph type="subTitle" idx="4"/>
          </p:nvPr>
        </p:nvSpPr>
        <p:spPr>
          <a:xfrm>
            <a:off x="2611948" y="1868850"/>
            <a:ext cx="2954151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Show One Word  At A Time</a:t>
            </a:r>
            <a:endParaRPr dirty="0"/>
          </a:p>
        </p:txBody>
      </p:sp>
      <p:sp>
        <p:nvSpPr>
          <p:cNvPr id="773" name="Google Shape;773;p34"/>
          <p:cNvSpPr txBox="1">
            <a:spLocks noGrp="1"/>
          </p:cNvSpPr>
          <p:nvPr>
            <p:ph type="subTitle" idx="5"/>
          </p:nvPr>
        </p:nvSpPr>
        <p:spPr>
          <a:xfrm>
            <a:off x="2611948" y="25151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Reveal Meaning</a:t>
            </a:r>
            <a:endParaRPr dirty="0"/>
          </a:p>
        </p:txBody>
      </p:sp>
      <p:sp>
        <p:nvSpPr>
          <p:cNvPr id="777" name="Google Shape;777;p34"/>
          <p:cNvSpPr txBox="1">
            <a:spLocks noGrp="1"/>
          </p:cNvSpPr>
          <p:nvPr>
            <p:ph type="subTitle" idx="6"/>
          </p:nvPr>
        </p:nvSpPr>
        <p:spPr>
          <a:xfrm>
            <a:off x="2611948" y="3161400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Move To Next Word</a:t>
            </a:r>
            <a:endParaRPr dirty="0"/>
          </a:p>
        </p:txBody>
      </p:sp>
      <p:grpSp>
        <p:nvGrpSpPr>
          <p:cNvPr id="787" name="Google Shape;787;p34"/>
          <p:cNvGrpSpPr/>
          <p:nvPr/>
        </p:nvGrpSpPr>
        <p:grpSpPr>
          <a:xfrm>
            <a:off x="2243322" y="2035624"/>
            <a:ext cx="209948" cy="209145"/>
            <a:chOff x="1725463" y="2681050"/>
            <a:chExt cx="346325" cy="345000"/>
          </a:xfrm>
        </p:grpSpPr>
        <p:sp>
          <p:nvSpPr>
            <p:cNvPr id="788" name="Google Shape;788;p34"/>
            <p:cNvSpPr/>
            <p:nvPr/>
          </p:nvSpPr>
          <p:spPr>
            <a:xfrm>
              <a:off x="1807588" y="2762650"/>
              <a:ext cx="181800" cy="181800"/>
            </a:xfrm>
            <a:custGeom>
              <a:avLst/>
              <a:gdLst/>
              <a:ahLst/>
              <a:cxnLst/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1725463" y="2681050"/>
              <a:ext cx="346325" cy="345000"/>
            </a:xfrm>
            <a:custGeom>
              <a:avLst/>
              <a:gdLst/>
              <a:ahLst/>
              <a:cxnLst/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9227BE31-3EAA-991F-AC9B-31C5392FC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093987" y="3641700"/>
            <a:ext cx="2260200" cy="150180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oogle Shape;787;p34">
            <a:extLst>
              <a:ext uri="{FF2B5EF4-FFF2-40B4-BE49-F238E27FC236}">
                <a16:creationId xmlns:a16="http://schemas.microsoft.com/office/drawing/2014/main" id="{7179BCFE-4D50-7DB2-AC6B-001897DD72E5}"/>
              </a:ext>
            </a:extLst>
          </p:cNvPr>
          <p:cNvGrpSpPr/>
          <p:nvPr/>
        </p:nvGrpSpPr>
        <p:grpSpPr>
          <a:xfrm>
            <a:off x="2243322" y="2689587"/>
            <a:ext cx="209948" cy="209145"/>
            <a:chOff x="1725463" y="2681050"/>
            <a:chExt cx="346325" cy="345000"/>
          </a:xfrm>
        </p:grpSpPr>
        <p:sp>
          <p:nvSpPr>
            <p:cNvPr id="9" name="Google Shape;788;p34">
              <a:extLst>
                <a:ext uri="{FF2B5EF4-FFF2-40B4-BE49-F238E27FC236}">
                  <a16:creationId xmlns:a16="http://schemas.microsoft.com/office/drawing/2014/main" id="{8ED38188-D466-B2F8-C75B-0DCCC301A012}"/>
                </a:ext>
              </a:extLst>
            </p:cNvPr>
            <p:cNvSpPr/>
            <p:nvPr/>
          </p:nvSpPr>
          <p:spPr>
            <a:xfrm>
              <a:off x="1807588" y="2762650"/>
              <a:ext cx="181800" cy="181800"/>
            </a:xfrm>
            <a:custGeom>
              <a:avLst/>
              <a:gdLst/>
              <a:ahLst/>
              <a:cxnLst/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" name="Google Shape;789;p34">
              <a:extLst>
                <a:ext uri="{FF2B5EF4-FFF2-40B4-BE49-F238E27FC236}">
                  <a16:creationId xmlns:a16="http://schemas.microsoft.com/office/drawing/2014/main" id="{4CD13411-D057-4032-EDD8-1644017B45D8}"/>
                </a:ext>
              </a:extLst>
            </p:cNvPr>
            <p:cNvSpPr/>
            <p:nvPr/>
          </p:nvSpPr>
          <p:spPr>
            <a:xfrm>
              <a:off x="1725463" y="2681050"/>
              <a:ext cx="346325" cy="345000"/>
            </a:xfrm>
            <a:custGeom>
              <a:avLst/>
              <a:gdLst/>
              <a:ahLst/>
              <a:cxnLst/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1" name="Google Shape;787;p34">
            <a:extLst>
              <a:ext uri="{FF2B5EF4-FFF2-40B4-BE49-F238E27FC236}">
                <a16:creationId xmlns:a16="http://schemas.microsoft.com/office/drawing/2014/main" id="{93916223-369F-0CBD-7363-D3EDE880F120}"/>
              </a:ext>
            </a:extLst>
          </p:cNvPr>
          <p:cNvGrpSpPr/>
          <p:nvPr/>
        </p:nvGrpSpPr>
        <p:grpSpPr>
          <a:xfrm>
            <a:off x="2255939" y="3350448"/>
            <a:ext cx="209948" cy="209145"/>
            <a:chOff x="1725463" y="2681050"/>
            <a:chExt cx="346325" cy="345000"/>
          </a:xfrm>
        </p:grpSpPr>
        <p:sp>
          <p:nvSpPr>
            <p:cNvPr id="12" name="Google Shape;788;p34">
              <a:extLst>
                <a:ext uri="{FF2B5EF4-FFF2-40B4-BE49-F238E27FC236}">
                  <a16:creationId xmlns:a16="http://schemas.microsoft.com/office/drawing/2014/main" id="{DB7789C4-E54A-1E30-FD27-6C4896FBBCDF}"/>
                </a:ext>
              </a:extLst>
            </p:cNvPr>
            <p:cNvSpPr/>
            <p:nvPr/>
          </p:nvSpPr>
          <p:spPr>
            <a:xfrm>
              <a:off x="1807588" y="2762650"/>
              <a:ext cx="181800" cy="181800"/>
            </a:xfrm>
            <a:custGeom>
              <a:avLst/>
              <a:gdLst/>
              <a:ahLst/>
              <a:cxnLst/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" name="Google Shape;789;p34">
              <a:extLst>
                <a:ext uri="{FF2B5EF4-FFF2-40B4-BE49-F238E27FC236}">
                  <a16:creationId xmlns:a16="http://schemas.microsoft.com/office/drawing/2014/main" id="{E4EF4E8B-0270-1263-8D54-7D26AF3E9141}"/>
                </a:ext>
              </a:extLst>
            </p:cNvPr>
            <p:cNvSpPr/>
            <p:nvPr/>
          </p:nvSpPr>
          <p:spPr>
            <a:xfrm>
              <a:off x="1725463" y="2681050"/>
              <a:ext cx="346325" cy="345000"/>
            </a:xfrm>
            <a:custGeom>
              <a:avLst/>
              <a:gdLst/>
              <a:ahLst/>
              <a:cxnLst/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1F1E8769-EEFD-631A-6FA9-9B1FD9E3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>
            <a:extLst>
              <a:ext uri="{FF2B5EF4-FFF2-40B4-BE49-F238E27FC236}">
                <a16:creationId xmlns:a16="http://schemas.microsoft.com/office/drawing/2014/main" id="{4EE7269E-755F-9331-D3B6-194D37C403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740" name="Google Shape;740;p32">
            <a:extLst>
              <a:ext uri="{FF2B5EF4-FFF2-40B4-BE49-F238E27FC236}">
                <a16:creationId xmlns:a16="http://schemas.microsoft.com/office/drawing/2014/main" id="{C5A11072-8CBE-6B39-05D7-E903EA54D32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41" name="Google Shape;741;p32">
            <a:extLst>
              <a:ext uri="{FF2B5EF4-FFF2-40B4-BE49-F238E27FC236}">
                <a16:creationId xmlns:a16="http://schemas.microsoft.com/office/drawing/2014/main" id="{FEC36134-A9E5-1D7F-177E-1B990992D311}"/>
              </a:ext>
            </a:extLst>
          </p:cNvPr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>
            <a:extLst>
              <a:ext uri="{FF2B5EF4-FFF2-40B4-BE49-F238E27FC236}">
                <a16:creationId xmlns:a16="http://schemas.microsoft.com/office/drawing/2014/main" id="{59C388CA-86CF-CE61-1F5D-D18FD60972F7}"/>
              </a:ext>
            </a:extLst>
          </p:cNvPr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>
            <a:extLst>
              <a:ext uri="{FF2B5EF4-FFF2-40B4-BE49-F238E27FC236}">
                <a16:creationId xmlns:a16="http://schemas.microsoft.com/office/drawing/2014/main" id="{D5597A54-0180-52AF-90B7-26B3B19FAFC2}"/>
              </a:ext>
            </a:extLst>
          </p:cNvPr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>
              <a:extLst>
                <a:ext uri="{FF2B5EF4-FFF2-40B4-BE49-F238E27FC236}">
                  <a16:creationId xmlns:a16="http://schemas.microsoft.com/office/drawing/2014/main" id="{9025F95A-2EA0-2FD1-3A1B-AD5C6B78441B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>
              <a:extLst>
                <a:ext uri="{FF2B5EF4-FFF2-40B4-BE49-F238E27FC236}">
                  <a16:creationId xmlns:a16="http://schemas.microsoft.com/office/drawing/2014/main" id="{185AF80C-03F0-8DA8-5969-E0BECC4D4B98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>
              <a:extLst>
                <a:ext uri="{FF2B5EF4-FFF2-40B4-BE49-F238E27FC236}">
                  <a16:creationId xmlns:a16="http://schemas.microsoft.com/office/drawing/2014/main" id="{BA5E8D7B-7A4B-83E9-992D-ED7803BDAAEE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>
            <a:extLst>
              <a:ext uri="{FF2B5EF4-FFF2-40B4-BE49-F238E27FC236}">
                <a16:creationId xmlns:a16="http://schemas.microsoft.com/office/drawing/2014/main" id="{87F6D9E7-956A-5444-30EB-426C9304456F}"/>
              </a:ext>
            </a:extLst>
          </p:cNvPr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>
              <a:extLst>
                <a:ext uri="{FF2B5EF4-FFF2-40B4-BE49-F238E27FC236}">
                  <a16:creationId xmlns:a16="http://schemas.microsoft.com/office/drawing/2014/main" id="{CE146D07-4B17-0890-2507-9F5DECCBF47D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>
              <a:extLst>
                <a:ext uri="{FF2B5EF4-FFF2-40B4-BE49-F238E27FC236}">
                  <a16:creationId xmlns:a16="http://schemas.microsoft.com/office/drawing/2014/main" id="{52539457-B29E-4FDB-7E8B-CE9FFB2CEC48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>
              <a:extLst>
                <a:ext uri="{FF2B5EF4-FFF2-40B4-BE49-F238E27FC236}">
                  <a16:creationId xmlns:a16="http://schemas.microsoft.com/office/drawing/2014/main" id="{B1026AAC-21E0-AFAA-1454-3F7A4C44DB83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>
            <a:extLst>
              <a:ext uri="{FF2B5EF4-FFF2-40B4-BE49-F238E27FC236}">
                <a16:creationId xmlns:a16="http://schemas.microsoft.com/office/drawing/2014/main" id="{71603226-5238-3651-7EAE-6DAE93A00B44}"/>
              </a:ext>
            </a:extLst>
          </p:cNvPr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>
            <a:extLst>
              <a:ext uri="{FF2B5EF4-FFF2-40B4-BE49-F238E27FC236}">
                <a16:creationId xmlns:a16="http://schemas.microsoft.com/office/drawing/2014/main" id="{FB79767E-6033-932C-8EB3-9D21642A4099}"/>
              </a:ext>
            </a:extLst>
          </p:cNvPr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>
              <a:extLst>
                <a:ext uri="{FF2B5EF4-FFF2-40B4-BE49-F238E27FC236}">
                  <a16:creationId xmlns:a16="http://schemas.microsoft.com/office/drawing/2014/main" id="{1FB7AF29-09B8-AAA8-6448-A932C6545C58}"/>
                </a:ext>
              </a:extLst>
            </p:cNvPr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>
              <a:extLst>
                <a:ext uri="{FF2B5EF4-FFF2-40B4-BE49-F238E27FC236}">
                  <a16:creationId xmlns:a16="http://schemas.microsoft.com/office/drawing/2014/main" id="{DC63899B-FFC5-FCB6-6C3C-4A4B2C6A0E7A}"/>
                </a:ext>
              </a:extLst>
            </p:cNvPr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>
              <a:extLst>
                <a:ext uri="{FF2B5EF4-FFF2-40B4-BE49-F238E27FC236}">
                  <a16:creationId xmlns:a16="http://schemas.microsoft.com/office/drawing/2014/main" id="{FFCD8B3C-93BD-D615-BB9C-1C820298362E}"/>
                </a:ext>
              </a:extLst>
            </p:cNvPr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6317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OBJECTIVES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Google Shape;731;p31">
            <a:extLst>
              <a:ext uri="{FF2B5EF4-FFF2-40B4-BE49-F238E27FC236}">
                <a16:creationId xmlns:a16="http://schemas.microsoft.com/office/drawing/2014/main" id="{D444C13C-FD01-099E-DDA7-5579B3BBDB0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1733" y="1550575"/>
            <a:ext cx="8179106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 apply file handling concepts (</a:t>
            </a:r>
            <a:r>
              <a:rPr lang="en-US" sz="1600" dirty="0" err="1"/>
              <a:t>fstream</a:t>
            </a:r>
            <a:r>
              <a:rPr lang="en-US" sz="1600" dirty="0"/>
              <a:t>) in a real project.</a:t>
            </a:r>
          </a:p>
          <a:p>
            <a:pPr marL="152400" indent="0"/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 understand GUI-based event handling using C++ Builder.</a:t>
            </a:r>
          </a:p>
          <a:p>
            <a:pPr marL="152400" indent="0"/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 create a simple but meaningful educational application.</a:t>
            </a:r>
          </a:p>
          <a:p>
            <a:pPr marL="152400" indent="0"/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 demonstrate random word generation and data management in C++.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4FC45F9A-4949-AEF3-0C83-0551FC532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>
            <a:extLst>
              <a:ext uri="{FF2B5EF4-FFF2-40B4-BE49-F238E27FC236}">
                <a16:creationId xmlns:a16="http://schemas.microsoft.com/office/drawing/2014/main" id="{57E223DD-E778-34E1-9D10-9FDE8B81D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TOOLS &amp; TECH USED</a:t>
            </a:r>
            <a:endParaRPr dirty="0"/>
          </a:p>
        </p:txBody>
      </p:sp>
      <p:sp>
        <p:nvSpPr>
          <p:cNvPr id="740" name="Google Shape;740;p32">
            <a:extLst>
              <a:ext uri="{FF2B5EF4-FFF2-40B4-BE49-F238E27FC236}">
                <a16:creationId xmlns:a16="http://schemas.microsoft.com/office/drawing/2014/main" id="{56AF3F94-A137-48BA-0B25-65D4B36B7DD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741" name="Google Shape;741;p32">
            <a:extLst>
              <a:ext uri="{FF2B5EF4-FFF2-40B4-BE49-F238E27FC236}">
                <a16:creationId xmlns:a16="http://schemas.microsoft.com/office/drawing/2014/main" id="{F8739207-B8E8-9953-ED65-CD3BCE19727D}"/>
              </a:ext>
            </a:extLst>
          </p:cNvPr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>
            <a:extLst>
              <a:ext uri="{FF2B5EF4-FFF2-40B4-BE49-F238E27FC236}">
                <a16:creationId xmlns:a16="http://schemas.microsoft.com/office/drawing/2014/main" id="{8A21CCDC-7F89-E431-3DEA-A66923B1DFD2}"/>
              </a:ext>
            </a:extLst>
          </p:cNvPr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>
            <a:extLst>
              <a:ext uri="{FF2B5EF4-FFF2-40B4-BE49-F238E27FC236}">
                <a16:creationId xmlns:a16="http://schemas.microsoft.com/office/drawing/2014/main" id="{D609CDF9-A17D-5EFC-3E0B-24DA82F041C3}"/>
              </a:ext>
            </a:extLst>
          </p:cNvPr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>
              <a:extLst>
                <a:ext uri="{FF2B5EF4-FFF2-40B4-BE49-F238E27FC236}">
                  <a16:creationId xmlns:a16="http://schemas.microsoft.com/office/drawing/2014/main" id="{4DDF3D34-00F3-E5CE-CD8B-0C5DD5C51C21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>
              <a:extLst>
                <a:ext uri="{FF2B5EF4-FFF2-40B4-BE49-F238E27FC236}">
                  <a16:creationId xmlns:a16="http://schemas.microsoft.com/office/drawing/2014/main" id="{B7C6078D-CD26-A9E8-6EAD-FD379A789ECC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>
              <a:extLst>
                <a:ext uri="{FF2B5EF4-FFF2-40B4-BE49-F238E27FC236}">
                  <a16:creationId xmlns:a16="http://schemas.microsoft.com/office/drawing/2014/main" id="{2EB9C5A6-19A4-AA0E-CE48-51EC156695EA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>
            <a:extLst>
              <a:ext uri="{FF2B5EF4-FFF2-40B4-BE49-F238E27FC236}">
                <a16:creationId xmlns:a16="http://schemas.microsoft.com/office/drawing/2014/main" id="{66649592-99A5-80FC-3914-3766FD56DB56}"/>
              </a:ext>
            </a:extLst>
          </p:cNvPr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>
              <a:extLst>
                <a:ext uri="{FF2B5EF4-FFF2-40B4-BE49-F238E27FC236}">
                  <a16:creationId xmlns:a16="http://schemas.microsoft.com/office/drawing/2014/main" id="{2689B9BF-E1C9-91BF-DAC2-F94AF2DFF665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>
              <a:extLst>
                <a:ext uri="{FF2B5EF4-FFF2-40B4-BE49-F238E27FC236}">
                  <a16:creationId xmlns:a16="http://schemas.microsoft.com/office/drawing/2014/main" id="{71ED7F62-46F8-DADD-636D-4EFCBB83CFDC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>
              <a:extLst>
                <a:ext uri="{FF2B5EF4-FFF2-40B4-BE49-F238E27FC236}">
                  <a16:creationId xmlns:a16="http://schemas.microsoft.com/office/drawing/2014/main" id="{4D643BB2-A2E2-A257-9D5E-E4D94B8D8FAE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>
            <a:extLst>
              <a:ext uri="{FF2B5EF4-FFF2-40B4-BE49-F238E27FC236}">
                <a16:creationId xmlns:a16="http://schemas.microsoft.com/office/drawing/2014/main" id="{DCBD387B-5742-040C-BC97-E160F3041E45}"/>
              </a:ext>
            </a:extLst>
          </p:cNvPr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>
            <a:extLst>
              <a:ext uri="{FF2B5EF4-FFF2-40B4-BE49-F238E27FC236}">
                <a16:creationId xmlns:a16="http://schemas.microsoft.com/office/drawing/2014/main" id="{E1757D64-A2FC-4356-D7C5-3080F705DE76}"/>
              </a:ext>
            </a:extLst>
          </p:cNvPr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>
              <a:extLst>
                <a:ext uri="{FF2B5EF4-FFF2-40B4-BE49-F238E27FC236}">
                  <a16:creationId xmlns:a16="http://schemas.microsoft.com/office/drawing/2014/main" id="{E91EF0D3-FD5D-4C91-ED26-4D5A057F1DDD}"/>
                </a:ext>
              </a:extLst>
            </p:cNvPr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>
              <a:extLst>
                <a:ext uri="{FF2B5EF4-FFF2-40B4-BE49-F238E27FC236}">
                  <a16:creationId xmlns:a16="http://schemas.microsoft.com/office/drawing/2014/main" id="{1E8257DE-C50E-2A1B-8017-23E083C7C333}"/>
                </a:ext>
              </a:extLst>
            </p:cNvPr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>
              <a:extLst>
                <a:ext uri="{FF2B5EF4-FFF2-40B4-BE49-F238E27FC236}">
                  <a16:creationId xmlns:a16="http://schemas.microsoft.com/office/drawing/2014/main" id="{E1517F7A-7356-E4A9-4901-984ECA4466D1}"/>
                </a:ext>
              </a:extLst>
            </p:cNvPr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50141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71ED78E6-8D0B-D849-2878-F107BCC11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D28394B2-3EC3-A68C-09BC-4D2A1BBB70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TOOLS &amp; TECHNOLOGIES USED: 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88DFF28-E72D-9EAF-EFDC-A0DCA900FF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0000" y="1184379"/>
            <a:ext cx="49808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Embarcadero C++ Builder (Community Edition)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Language: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C++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Component Library (VCL)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Operating System: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Windows 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External Files: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vocab1.txt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vocab2.txt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vocab3.txt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vocab4.txt, etc.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A813E281-965B-BDE1-751C-80E93DCF2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00" y="3577807"/>
            <a:ext cx="758784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4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Why C++ Builder?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br>
              <a:rPr lang="en-US" sz="1400" dirty="0"/>
            </a:br>
            <a:r>
              <a:rPr lang="en-US" sz="1400" dirty="0"/>
              <a:t>It allows drag-and-drop interface design and combines GUI controls with powerful C++ code, making it ideal for quick, beginner-friendly projects.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51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29974042-559D-A7A2-BF84-018BB4A4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>
            <a:extLst>
              <a:ext uri="{FF2B5EF4-FFF2-40B4-BE49-F238E27FC236}">
                <a16:creationId xmlns:a16="http://schemas.microsoft.com/office/drawing/2014/main" id="{2FDFB709-0FD2-20DA-C842-B39B15E19E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6799" y="2325725"/>
            <a:ext cx="4810517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APPLICATION LOGIC</a:t>
            </a:r>
            <a:endParaRPr dirty="0"/>
          </a:p>
        </p:txBody>
      </p:sp>
      <p:sp>
        <p:nvSpPr>
          <p:cNvPr id="740" name="Google Shape;740;p32">
            <a:extLst>
              <a:ext uri="{FF2B5EF4-FFF2-40B4-BE49-F238E27FC236}">
                <a16:creationId xmlns:a16="http://schemas.microsoft.com/office/drawing/2014/main" id="{7FB0BD99-B99B-3ADB-212D-7F5ACE1A3D4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731276" y="2221607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41" name="Google Shape;741;p32">
            <a:extLst>
              <a:ext uri="{FF2B5EF4-FFF2-40B4-BE49-F238E27FC236}">
                <a16:creationId xmlns:a16="http://schemas.microsoft.com/office/drawing/2014/main" id="{0EF2FD3C-3CAC-64C1-661F-591FA26A9E7F}"/>
              </a:ext>
            </a:extLst>
          </p:cNvPr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>
            <a:extLst>
              <a:ext uri="{FF2B5EF4-FFF2-40B4-BE49-F238E27FC236}">
                <a16:creationId xmlns:a16="http://schemas.microsoft.com/office/drawing/2014/main" id="{6747D996-21F8-274A-2596-D0B0A143289B}"/>
              </a:ext>
            </a:extLst>
          </p:cNvPr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>
            <a:extLst>
              <a:ext uri="{FF2B5EF4-FFF2-40B4-BE49-F238E27FC236}">
                <a16:creationId xmlns:a16="http://schemas.microsoft.com/office/drawing/2014/main" id="{616F226A-5DAB-F490-F497-A4E7353F7DB0}"/>
              </a:ext>
            </a:extLst>
          </p:cNvPr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>
              <a:extLst>
                <a:ext uri="{FF2B5EF4-FFF2-40B4-BE49-F238E27FC236}">
                  <a16:creationId xmlns:a16="http://schemas.microsoft.com/office/drawing/2014/main" id="{7229C76F-5389-F25B-0D40-66942725E454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>
              <a:extLst>
                <a:ext uri="{FF2B5EF4-FFF2-40B4-BE49-F238E27FC236}">
                  <a16:creationId xmlns:a16="http://schemas.microsoft.com/office/drawing/2014/main" id="{7C08E77D-E0E8-30B9-363F-5FE1599A76D3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>
              <a:extLst>
                <a:ext uri="{FF2B5EF4-FFF2-40B4-BE49-F238E27FC236}">
                  <a16:creationId xmlns:a16="http://schemas.microsoft.com/office/drawing/2014/main" id="{9284FAD9-B367-6837-E390-47F1552983CE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>
            <a:extLst>
              <a:ext uri="{FF2B5EF4-FFF2-40B4-BE49-F238E27FC236}">
                <a16:creationId xmlns:a16="http://schemas.microsoft.com/office/drawing/2014/main" id="{1B5FDA25-01CB-663B-6DE0-89263313C70F}"/>
              </a:ext>
            </a:extLst>
          </p:cNvPr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>
              <a:extLst>
                <a:ext uri="{FF2B5EF4-FFF2-40B4-BE49-F238E27FC236}">
                  <a16:creationId xmlns:a16="http://schemas.microsoft.com/office/drawing/2014/main" id="{1E062693-F95D-D834-765B-665E3E74A53A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>
              <a:extLst>
                <a:ext uri="{FF2B5EF4-FFF2-40B4-BE49-F238E27FC236}">
                  <a16:creationId xmlns:a16="http://schemas.microsoft.com/office/drawing/2014/main" id="{4D0E4859-9CD7-AC17-34EE-D23E25346260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>
              <a:extLst>
                <a:ext uri="{FF2B5EF4-FFF2-40B4-BE49-F238E27FC236}">
                  <a16:creationId xmlns:a16="http://schemas.microsoft.com/office/drawing/2014/main" id="{C485DD6F-C978-22BB-E374-80E463A329E0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>
            <a:extLst>
              <a:ext uri="{FF2B5EF4-FFF2-40B4-BE49-F238E27FC236}">
                <a16:creationId xmlns:a16="http://schemas.microsoft.com/office/drawing/2014/main" id="{797C8C8F-2B2C-D2F9-A370-E81D5FAB4CC7}"/>
              </a:ext>
            </a:extLst>
          </p:cNvPr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>
            <a:extLst>
              <a:ext uri="{FF2B5EF4-FFF2-40B4-BE49-F238E27FC236}">
                <a16:creationId xmlns:a16="http://schemas.microsoft.com/office/drawing/2014/main" id="{D0B1D785-5332-B22E-C033-560F98D737A4}"/>
              </a:ext>
            </a:extLst>
          </p:cNvPr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>
              <a:extLst>
                <a:ext uri="{FF2B5EF4-FFF2-40B4-BE49-F238E27FC236}">
                  <a16:creationId xmlns:a16="http://schemas.microsoft.com/office/drawing/2014/main" id="{5425F3D2-D4EB-7AE9-BC80-50B30A2E7E45}"/>
                </a:ext>
              </a:extLst>
            </p:cNvPr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>
              <a:extLst>
                <a:ext uri="{FF2B5EF4-FFF2-40B4-BE49-F238E27FC236}">
                  <a16:creationId xmlns:a16="http://schemas.microsoft.com/office/drawing/2014/main" id="{8F5E20A1-3421-9EC4-3058-6856865D45E7}"/>
                </a:ext>
              </a:extLst>
            </p:cNvPr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>
              <a:extLst>
                <a:ext uri="{FF2B5EF4-FFF2-40B4-BE49-F238E27FC236}">
                  <a16:creationId xmlns:a16="http://schemas.microsoft.com/office/drawing/2014/main" id="{3D94A9BB-19BD-8570-9208-335F4FC961D2}"/>
                </a:ext>
              </a:extLst>
            </p:cNvPr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5105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02A44DA3-56A2-EA48-A109-C7F8C56A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619A1695-F311-9C7D-28E4-4FF9BCA65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APPLICATION LOGIC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A16C6185-2007-B14D-BCEE-A13F16C33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4" y="1240618"/>
            <a:ext cx="7587845" cy="2662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MAIN FUNCTIONS :</a:t>
            </a:r>
          </a:p>
          <a:p>
            <a:endParaRPr lang="en-US" sz="1600" dirty="0"/>
          </a:p>
          <a:p>
            <a:r>
              <a:rPr lang="en-US" sz="1400" b="1" dirty="0" err="1"/>
              <a:t>LoadVocabularyFiles</a:t>
            </a:r>
            <a:r>
              <a:rPr lang="en-US" sz="1400" b="1" dirty="0"/>
              <a:t>()</a:t>
            </a:r>
            <a:br>
              <a:rPr lang="en-US" sz="1600" dirty="0"/>
            </a:br>
            <a:r>
              <a:rPr lang="en-US" sz="1600" dirty="0"/>
              <a:t>Loads all text files, reads each line, and stores word-meaning pairs.</a:t>
            </a:r>
          </a:p>
          <a:p>
            <a:r>
              <a:rPr lang="en-US" sz="1400" b="1" dirty="0" err="1"/>
              <a:t>ShowRandomWord</a:t>
            </a:r>
            <a:r>
              <a:rPr lang="en-US" sz="1400" b="1" dirty="0"/>
              <a:t>()</a:t>
            </a:r>
            <a:br>
              <a:rPr lang="en-US" sz="1600" dirty="0"/>
            </a:br>
            <a:r>
              <a:rPr lang="en-US" sz="1600" dirty="0"/>
              <a:t>Selects a random word using </a:t>
            </a:r>
            <a:r>
              <a:rPr lang="en-US" sz="1400" dirty="0"/>
              <a:t>random()</a:t>
            </a:r>
            <a:r>
              <a:rPr lang="en-US" sz="1600" dirty="0"/>
              <a:t> and displays it on the form.</a:t>
            </a:r>
          </a:p>
          <a:p>
            <a:pPr>
              <a:lnSpc>
                <a:spcPct val="150000"/>
              </a:lnSpc>
            </a:pPr>
            <a:r>
              <a:rPr lang="en-US" sz="1400" b="1" dirty="0" err="1"/>
              <a:t>ButtonRevealClick</a:t>
            </a:r>
            <a:r>
              <a:rPr lang="en-US" sz="1400" b="1" dirty="0"/>
              <a:t>()</a:t>
            </a:r>
            <a:br>
              <a:rPr lang="en-US" sz="1600" dirty="0"/>
            </a:br>
            <a:r>
              <a:rPr lang="en-US" sz="1600" dirty="0"/>
              <a:t>Toggles the meaning visibility and updates button text (Reveal/Hide).</a:t>
            </a:r>
          </a:p>
          <a:p>
            <a:r>
              <a:rPr lang="en-US" sz="1400" b="1" dirty="0" err="1"/>
              <a:t>ButtonNextClick</a:t>
            </a:r>
            <a:r>
              <a:rPr lang="en-US" sz="1400" b="1" dirty="0"/>
              <a:t>()</a:t>
            </a:r>
            <a:br>
              <a:rPr lang="en-US" sz="1600" dirty="0"/>
            </a:br>
            <a:r>
              <a:rPr lang="en-US" sz="1600" dirty="0"/>
              <a:t>Loads another random word from the list.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70B56B0D-A08B-A02A-771A-A43AC615F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47414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8A16D62E-1E5A-BAA2-3FEC-42F9D3A7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9EABBF87-7CBB-0BD5-5860-5C2493290A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APPLICATION LOGIC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A9AFB548-A218-5FB7-49F4-56FF847C7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1486983"/>
            <a:ext cx="7587845" cy="2600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PROGRAM FLOW:</a:t>
            </a:r>
            <a:endParaRPr lang="en-US" sz="16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App starts</a:t>
            </a:r>
            <a:r>
              <a:rPr lang="en-US" sz="1400" dirty="0"/>
              <a:t> → Constructor runs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Form created</a:t>
            </a:r>
            <a:r>
              <a:rPr lang="en-US" sz="1400" dirty="0"/>
              <a:t> → </a:t>
            </a:r>
            <a:r>
              <a:rPr lang="en-US" sz="1400" dirty="0" err="1"/>
              <a:t>FormCreate</a:t>
            </a:r>
            <a:r>
              <a:rPr lang="en-US" sz="1400" dirty="0"/>
              <a:t>() runs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Load files</a:t>
            </a:r>
            <a:r>
              <a:rPr lang="en-US" sz="1400" dirty="0"/>
              <a:t> → </a:t>
            </a:r>
            <a:r>
              <a:rPr lang="en-US" sz="1400" dirty="0" err="1"/>
              <a:t>LoadVocabularyFiles</a:t>
            </a:r>
            <a:r>
              <a:rPr lang="en-US" sz="1400" dirty="0"/>
              <a:t>() reads all vocab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Show word</a:t>
            </a:r>
            <a:r>
              <a:rPr lang="en-US" sz="1400" dirty="0"/>
              <a:t> → </a:t>
            </a:r>
            <a:r>
              <a:rPr lang="en-US" sz="1400" dirty="0" err="1"/>
              <a:t>ShowRandomWord</a:t>
            </a:r>
            <a:r>
              <a:rPr lang="en-US" sz="1400" dirty="0"/>
              <a:t>() picks random word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User clicks "Reveal"</a:t>
            </a:r>
            <a:r>
              <a:rPr lang="en-US" sz="1400" dirty="0"/>
              <a:t> → </a:t>
            </a:r>
            <a:r>
              <a:rPr lang="en-US" sz="1400" dirty="0" err="1"/>
              <a:t>ButtonRevealClick</a:t>
            </a:r>
            <a:r>
              <a:rPr lang="en-US" sz="1400" dirty="0"/>
              <a:t>() toggles visibility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User clicks "Next"</a:t>
            </a:r>
            <a:r>
              <a:rPr lang="en-US" sz="1400" dirty="0"/>
              <a:t> → </a:t>
            </a:r>
            <a:r>
              <a:rPr lang="en-US" sz="1400" dirty="0" err="1"/>
              <a:t>ButtonNextClick</a:t>
            </a:r>
            <a:r>
              <a:rPr lang="en-US" sz="1400" dirty="0"/>
              <a:t>() → </a:t>
            </a:r>
            <a:r>
              <a:rPr lang="en-US" sz="1400" dirty="0" err="1"/>
              <a:t>ShowRandomWord</a:t>
            </a:r>
            <a:r>
              <a:rPr lang="en-US" sz="1400" dirty="0"/>
              <a:t>()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Loop</a:t>
            </a:r>
            <a:r>
              <a:rPr lang="en-US" sz="1400" dirty="0"/>
              <a:t> steps 6 until app closes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7A43A114-0464-2758-C8A5-9E7C0A06D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20694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72A2CD3F-1792-B08B-FBEF-9AA5DC8B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>
            <a:extLst>
              <a:ext uri="{FF2B5EF4-FFF2-40B4-BE49-F238E27FC236}">
                <a16:creationId xmlns:a16="http://schemas.microsoft.com/office/drawing/2014/main" id="{354616B5-BB38-D922-F3B6-0F279C612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519" y="2393508"/>
            <a:ext cx="6254601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Features &amp; Interface</a:t>
            </a:r>
            <a:br>
              <a:rPr lang="en-US" dirty="0"/>
            </a:br>
            <a:r>
              <a:rPr lang="en-US" dirty="0"/>
              <a:t>Design:</a:t>
            </a:r>
            <a:endParaRPr dirty="0"/>
          </a:p>
        </p:txBody>
      </p:sp>
      <p:sp>
        <p:nvSpPr>
          <p:cNvPr id="740" name="Google Shape;740;p32">
            <a:extLst>
              <a:ext uri="{FF2B5EF4-FFF2-40B4-BE49-F238E27FC236}">
                <a16:creationId xmlns:a16="http://schemas.microsoft.com/office/drawing/2014/main" id="{5EA6DD3E-1ED4-B3FF-A885-0D47F50CE0C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116021" y="2393508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741" name="Google Shape;741;p32">
            <a:extLst>
              <a:ext uri="{FF2B5EF4-FFF2-40B4-BE49-F238E27FC236}">
                <a16:creationId xmlns:a16="http://schemas.microsoft.com/office/drawing/2014/main" id="{2B3C5FC3-DFC9-2D75-3AB5-C539B55F6E51}"/>
              </a:ext>
            </a:extLst>
          </p:cNvPr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>
            <a:extLst>
              <a:ext uri="{FF2B5EF4-FFF2-40B4-BE49-F238E27FC236}">
                <a16:creationId xmlns:a16="http://schemas.microsoft.com/office/drawing/2014/main" id="{5C3ACFEF-3C7B-78A9-5A50-DD075CF4AA79}"/>
              </a:ext>
            </a:extLst>
          </p:cNvPr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>
            <a:extLst>
              <a:ext uri="{FF2B5EF4-FFF2-40B4-BE49-F238E27FC236}">
                <a16:creationId xmlns:a16="http://schemas.microsoft.com/office/drawing/2014/main" id="{069DDA1E-BF27-F8EB-5E7F-6B9E3F827A06}"/>
              </a:ext>
            </a:extLst>
          </p:cNvPr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>
              <a:extLst>
                <a:ext uri="{FF2B5EF4-FFF2-40B4-BE49-F238E27FC236}">
                  <a16:creationId xmlns:a16="http://schemas.microsoft.com/office/drawing/2014/main" id="{F7BF25F7-D940-7603-7E97-69AD110F3313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>
              <a:extLst>
                <a:ext uri="{FF2B5EF4-FFF2-40B4-BE49-F238E27FC236}">
                  <a16:creationId xmlns:a16="http://schemas.microsoft.com/office/drawing/2014/main" id="{77CFC654-2EC3-4699-0797-E92360E6BC72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>
              <a:extLst>
                <a:ext uri="{FF2B5EF4-FFF2-40B4-BE49-F238E27FC236}">
                  <a16:creationId xmlns:a16="http://schemas.microsoft.com/office/drawing/2014/main" id="{69EB5D04-1659-6462-0FFF-41421C638800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>
            <a:extLst>
              <a:ext uri="{FF2B5EF4-FFF2-40B4-BE49-F238E27FC236}">
                <a16:creationId xmlns:a16="http://schemas.microsoft.com/office/drawing/2014/main" id="{DD25D76D-0A2A-09AB-0DF9-8D36AC6EFAFF}"/>
              </a:ext>
            </a:extLst>
          </p:cNvPr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>
              <a:extLst>
                <a:ext uri="{FF2B5EF4-FFF2-40B4-BE49-F238E27FC236}">
                  <a16:creationId xmlns:a16="http://schemas.microsoft.com/office/drawing/2014/main" id="{4C721359-7081-60F8-FB00-5B3B756A3EEC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>
              <a:extLst>
                <a:ext uri="{FF2B5EF4-FFF2-40B4-BE49-F238E27FC236}">
                  <a16:creationId xmlns:a16="http://schemas.microsoft.com/office/drawing/2014/main" id="{8C2EDB17-C2DB-06F0-07A1-09C9F897FE69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>
              <a:extLst>
                <a:ext uri="{FF2B5EF4-FFF2-40B4-BE49-F238E27FC236}">
                  <a16:creationId xmlns:a16="http://schemas.microsoft.com/office/drawing/2014/main" id="{39710CB7-2D8A-7D21-EE1D-46A7B8DBB86E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>
            <a:extLst>
              <a:ext uri="{FF2B5EF4-FFF2-40B4-BE49-F238E27FC236}">
                <a16:creationId xmlns:a16="http://schemas.microsoft.com/office/drawing/2014/main" id="{C5C760A5-CF08-55C2-8425-25A0CA1B3FB3}"/>
              </a:ext>
            </a:extLst>
          </p:cNvPr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>
            <a:extLst>
              <a:ext uri="{FF2B5EF4-FFF2-40B4-BE49-F238E27FC236}">
                <a16:creationId xmlns:a16="http://schemas.microsoft.com/office/drawing/2014/main" id="{86F25198-E70F-9A51-CDAE-1D5AF95A05DC}"/>
              </a:ext>
            </a:extLst>
          </p:cNvPr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>
              <a:extLst>
                <a:ext uri="{FF2B5EF4-FFF2-40B4-BE49-F238E27FC236}">
                  <a16:creationId xmlns:a16="http://schemas.microsoft.com/office/drawing/2014/main" id="{DB8C2824-FF40-FF3A-2EF2-4A73670FCC77}"/>
                </a:ext>
              </a:extLst>
            </p:cNvPr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>
              <a:extLst>
                <a:ext uri="{FF2B5EF4-FFF2-40B4-BE49-F238E27FC236}">
                  <a16:creationId xmlns:a16="http://schemas.microsoft.com/office/drawing/2014/main" id="{ECC09275-F336-E8E8-6A58-A34DC7388789}"/>
                </a:ext>
              </a:extLst>
            </p:cNvPr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>
              <a:extLst>
                <a:ext uri="{FF2B5EF4-FFF2-40B4-BE49-F238E27FC236}">
                  <a16:creationId xmlns:a16="http://schemas.microsoft.com/office/drawing/2014/main" id="{C19BF693-FDEC-E103-19E1-AB223F3E6B36}"/>
                </a:ext>
              </a:extLst>
            </p:cNvPr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59112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7096374B-6EE7-269D-EF08-9F033497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8E4A59D3-9134-44D3-3778-95A3AC541F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Features &amp; Interface: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CE664026-8BFD-C65B-C747-92B7EAFBC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4" y="994670"/>
            <a:ext cx="7587845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Interface Components:</a:t>
            </a:r>
            <a:endParaRPr lang="en-US" sz="14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400" b="1" dirty="0" err="1"/>
              <a:t>LabelWord</a:t>
            </a:r>
            <a:r>
              <a:rPr lang="en-US" sz="1400" b="1" dirty="0"/>
              <a:t>:</a:t>
            </a:r>
            <a:r>
              <a:rPr lang="en-US" sz="1400" dirty="0"/>
              <a:t> Displays the selected vocabulary word.</a:t>
            </a:r>
          </a:p>
          <a:p>
            <a:pPr>
              <a:lnSpc>
                <a:spcPct val="150000"/>
              </a:lnSpc>
            </a:pPr>
            <a:r>
              <a:rPr lang="en-US" sz="1400" b="1" dirty="0" err="1"/>
              <a:t>LabelMeaning</a:t>
            </a:r>
            <a:r>
              <a:rPr lang="en-US" sz="1400" b="1" dirty="0"/>
              <a:t>:</a:t>
            </a:r>
            <a:r>
              <a:rPr lang="en-US" sz="1400" dirty="0"/>
              <a:t> Shows the meaning (hidden initially).</a:t>
            </a:r>
          </a:p>
          <a:p>
            <a:pPr>
              <a:lnSpc>
                <a:spcPct val="150000"/>
              </a:lnSpc>
            </a:pPr>
            <a:r>
              <a:rPr lang="en-US" sz="1400" b="1" dirty="0" err="1"/>
              <a:t>ButtonReveal</a:t>
            </a:r>
            <a:r>
              <a:rPr lang="en-US" sz="1400" b="1" dirty="0"/>
              <a:t>:</a:t>
            </a:r>
            <a:r>
              <a:rPr lang="en-US" sz="1400" dirty="0"/>
              <a:t> Reveals or hides the meaning.</a:t>
            </a:r>
          </a:p>
          <a:p>
            <a:pPr>
              <a:lnSpc>
                <a:spcPct val="150000"/>
              </a:lnSpc>
            </a:pPr>
            <a:r>
              <a:rPr lang="en-US" sz="1400" b="1" dirty="0" err="1"/>
              <a:t>ButtonNext</a:t>
            </a:r>
            <a:r>
              <a:rPr lang="en-US" sz="1400" b="1" dirty="0"/>
              <a:t>:</a:t>
            </a:r>
            <a:r>
              <a:rPr lang="en-US" sz="1400" dirty="0"/>
              <a:t> Displays a new random word.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A1A82F16-5BF0-16E8-004D-E79BA8E4A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52F3702E-D1BB-4551-E193-8E4D0DE71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3" y="2818685"/>
            <a:ext cx="7587845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User Experience:</a:t>
            </a:r>
            <a:endParaRPr lang="en-US" sz="14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On startup, the app shows “Loaded X words!”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user clicks “Reveal Meaning” to study.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“Next Word” refreshes the screen with a new word.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If no files are found, a message alerts the user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52CA0-C7AF-B2FD-96C7-1C6F3DDE1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472" y="1017725"/>
            <a:ext cx="3196684" cy="271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44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537844DA-B83B-7C88-7E77-9C989DE9B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BF67373B-403B-1456-301D-568BC8D399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Features &amp; Interface: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79FE5AFF-380F-4158-5D46-0EAA76645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716E1F-4D8A-0393-7454-B17D67A4F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23" y="1322330"/>
            <a:ext cx="3852000" cy="3251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67162D-73C6-8ADA-23F0-9098815D5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512" y="1322678"/>
            <a:ext cx="3852000" cy="325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45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5B18726A-00EF-7362-418C-86EDCD814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>
            <a:extLst>
              <a:ext uri="{FF2B5EF4-FFF2-40B4-BE49-F238E27FC236}">
                <a16:creationId xmlns:a16="http://schemas.microsoft.com/office/drawing/2014/main" id="{FAFF3223-7073-FC20-79D9-E5676F2251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6799" y="2325725"/>
            <a:ext cx="4810517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File Handling and Data Structure</a:t>
            </a:r>
            <a:endParaRPr dirty="0"/>
          </a:p>
        </p:txBody>
      </p:sp>
      <p:sp>
        <p:nvSpPr>
          <p:cNvPr id="740" name="Google Shape;740;p32">
            <a:extLst>
              <a:ext uri="{FF2B5EF4-FFF2-40B4-BE49-F238E27FC236}">
                <a16:creationId xmlns:a16="http://schemas.microsoft.com/office/drawing/2014/main" id="{4245412D-17C8-BEF6-F017-ABA3BC5A417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731276" y="2221607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741" name="Google Shape;741;p32">
            <a:extLst>
              <a:ext uri="{FF2B5EF4-FFF2-40B4-BE49-F238E27FC236}">
                <a16:creationId xmlns:a16="http://schemas.microsoft.com/office/drawing/2014/main" id="{FCA752AD-7D1F-2BFF-60D7-502C4870D1CA}"/>
              </a:ext>
            </a:extLst>
          </p:cNvPr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>
            <a:extLst>
              <a:ext uri="{FF2B5EF4-FFF2-40B4-BE49-F238E27FC236}">
                <a16:creationId xmlns:a16="http://schemas.microsoft.com/office/drawing/2014/main" id="{36F76784-1634-F0F0-699C-2BD8DAAC2B48}"/>
              </a:ext>
            </a:extLst>
          </p:cNvPr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>
            <a:extLst>
              <a:ext uri="{FF2B5EF4-FFF2-40B4-BE49-F238E27FC236}">
                <a16:creationId xmlns:a16="http://schemas.microsoft.com/office/drawing/2014/main" id="{104FAAE0-80C7-7EE9-FBF0-07FE19C89D32}"/>
              </a:ext>
            </a:extLst>
          </p:cNvPr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>
              <a:extLst>
                <a:ext uri="{FF2B5EF4-FFF2-40B4-BE49-F238E27FC236}">
                  <a16:creationId xmlns:a16="http://schemas.microsoft.com/office/drawing/2014/main" id="{586F6205-49DC-A255-C583-A06C02E9EA4D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>
              <a:extLst>
                <a:ext uri="{FF2B5EF4-FFF2-40B4-BE49-F238E27FC236}">
                  <a16:creationId xmlns:a16="http://schemas.microsoft.com/office/drawing/2014/main" id="{6DD51398-3633-3521-E5C4-C3A49F926B07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>
              <a:extLst>
                <a:ext uri="{FF2B5EF4-FFF2-40B4-BE49-F238E27FC236}">
                  <a16:creationId xmlns:a16="http://schemas.microsoft.com/office/drawing/2014/main" id="{F8B054F9-6961-1E0F-F910-B838DA8CB6A3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>
            <a:extLst>
              <a:ext uri="{FF2B5EF4-FFF2-40B4-BE49-F238E27FC236}">
                <a16:creationId xmlns:a16="http://schemas.microsoft.com/office/drawing/2014/main" id="{F4444D73-6DF2-85C1-5173-FED28C683E83}"/>
              </a:ext>
            </a:extLst>
          </p:cNvPr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>
              <a:extLst>
                <a:ext uri="{FF2B5EF4-FFF2-40B4-BE49-F238E27FC236}">
                  <a16:creationId xmlns:a16="http://schemas.microsoft.com/office/drawing/2014/main" id="{3B0875C4-61E6-F319-424E-3D42746F2AC3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>
              <a:extLst>
                <a:ext uri="{FF2B5EF4-FFF2-40B4-BE49-F238E27FC236}">
                  <a16:creationId xmlns:a16="http://schemas.microsoft.com/office/drawing/2014/main" id="{C77D19FB-1AB1-363A-B42A-F48EF1DEA103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>
              <a:extLst>
                <a:ext uri="{FF2B5EF4-FFF2-40B4-BE49-F238E27FC236}">
                  <a16:creationId xmlns:a16="http://schemas.microsoft.com/office/drawing/2014/main" id="{CA845FFC-1753-68BC-9DD6-53CA6F79A1B9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>
            <a:extLst>
              <a:ext uri="{FF2B5EF4-FFF2-40B4-BE49-F238E27FC236}">
                <a16:creationId xmlns:a16="http://schemas.microsoft.com/office/drawing/2014/main" id="{FD1B0076-B804-76CA-8836-39FEF6A5FA49}"/>
              </a:ext>
            </a:extLst>
          </p:cNvPr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>
            <a:extLst>
              <a:ext uri="{FF2B5EF4-FFF2-40B4-BE49-F238E27FC236}">
                <a16:creationId xmlns:a16="http://schemas.microsoft.com/office/drawing/2014/main" id="{59A16634-7864-C2CA-3FB8-7D3530838A95}"/>
              </a:ext>
            </a:extLst>
          </p:cNvPr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>
              <a:extLst>
                <a:ext uri="{FF2B5EF4-FFF2-40B4-BE49-F238E27FC236}">
                  <a16:creationId xmlns:a16="http://schemas.microsoft.com/office/drawing/2014/main" id="{6D32F25A-C23D-2901-6FC4-FE0198F74B4E}"/>
                </a:ext>
              </a:extLst>
            </p:cNvPr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>
              <a:extLst>
                <a:ext uri="{FF2B5EF4-FFF2-40B4-BE49-F238E27FC236}">
                  <a16:creationId xmlns:a16="http://schemas.microsoft.com/office/drawing/2014/main" id="{9ED3BCD2-3387-46F7-356D-4F8575CCF813}"/>
                </a:ext>
              </a:extLst>
            </p:cNvPr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>
              <a:extLst>
                <a:ext uri="{FF2B5EF4-FFF2-40B4-BE49-F238E27FC236}">
                  <a16:creationId xmlns:a16="http://schemas.microsoft.com/office/drawing/2014/main" id="{10414C92-CC1A-156F-AE3D-2102FA7448BC}"/>
                </a:ext>
              </a:extLst>
            </p:cNvPr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97637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14980351-8C08-158D-B889-0A963B84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766A4A89-60BB-1160-710B-A14747B9F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3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File handling &amp; Data Structure: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2E17BA2C-F341-98BC-7C15-82B2ABF49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4" y="1496993"/>
            <a:ext cx="7587845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File Storage:</a:t>
            </a:r>
            <a:br>
              <a:rPr lang="en-US" sz="1400" dirty="0">
                <a:solidFill>
                  <a:schemeClr val="bg1">
                    <a:lumMod val="60000"/>
                    <a:lumOff val="40000"/>
                  </a:schemeClr>
                </a:solidFill>
              </a:rPr>
            </a:br>
            <a:r>
              <a:rPr lang="en-US" sz="1400" dirty="0"/>
              <a:t>All vocabulary files are stored base directory or a given directory.</a:t>
            </a:r>
            <a:br>
              <a:rPr lang="en-US" sz="1400" dirty="0"/>
            </a:br>
            <a:r>
              <a:rPr lang="en-US" sz="1400" dirty="0"/>
              <a:t>Each file contains multiple lines in the format: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E0A70362-A5F4-7B22-8C55-9E7DAA5D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0E31B-F98A-4A97-C899-A9117E6F5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27" y="2798677"/>
            <a:ext cx="6001796" cy="95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18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B5D10305-AAFD-E538-0C61-948F54D0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F48A073E-648E-681F-0ABF-4F01A18F1B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3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File handling &amp; Data Structure: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708B5796-AB36-3B42-6649-814177D09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D048C957-A05F-9B56-074B-7A7A3D072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1602254"/>
            <a:ext cx="758784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How It Works:</a:t>
            </a:r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program uses </a:t>
            </a:r>
            <a:r>
              <a:rPr lang="en-US" sz="1400" b="1" u="sng" dirty="0" err="1"/>
              <a:t>ifstream</a:t>
            </a:r>
            <a:r>
              <a:rPr lang="en-US" sz="1600" dirty="0"/>
              <a:t> to open each file.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Reads every line and separates the </a:t>
            </a:r>
            <a:r>
              <a:rPr lang="en-US" sz="1600" b="1" dirty="0"/>
              <a:t>word</a:t>
            </a:r>
            <a:r>
              <a:rPr lang="en-US" sz="1600" dirty="0"/>
              <a:t> and </a:t>
            </a:r>
            <a:r>
              <a:rPr lang="en-US" sz="1600" b="1" dirty="0"/>
              <a:t>meaning</a:t>
            </a:r>
            <a:r>
              <a:rPr lang="en-US" sz="1600" dirty="0"/>
              <a:t> using the comma (</a:t>
            </a:r>
            <a:r>
              <a:rPr lang="en-US" sz="1400" dirty="0"/>
              <a:t>','</a:t>
            </a:r>
            <a:r>
              <a:rPr lang="en-US" sz="1600" dirty="0"/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Each pair is stored in a </a:t>
            </a:r>
            <a:r>
              <a:rPr lang="en-US" sz="1400" dirty="0"/>
              <a:t>vector&lt;</a:t>
            </a:r>
            <a:r>
              <a:rPr lang="en-US" sz="1400" dirty="0" err="1"/>
              <a:t>VocabWord</a:t>
            </a:r>
            <a:r>
              <a:rPr lang="en-US" sz="1400" dirty="0"/>
              <a:t>&gt;</a:t>
            </a:r>
            <a:r>
              <a:rPr lang="en-US" sz="1600" dirty="0"/>
              <a:t> list for easy access.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Total words loaded are displayed with a message box.</a:t>
            </a:r>
          </a:p>
        </p:txBody>
      </p:sp>
    </p:spTree>
    <p:extLst>
      <p:ext uri="{BB962C8B-B14F-4D97-AF65-F5344CB8AC3E}">
        <p14:creationId xmlns:p14="http://schemas.microsoft.com/office/powerpoint/2010/main" val="1358862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4BF36CDD-C7EA-948A-3EEC-6CF37E47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30487EE9-C790-10A6-6188-8B4A474B1A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3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File handling &amp; Data Structure: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2E1AC6E7-7BB1-27B3-A8CE-7601EE01A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70CD6-A735-D8CC-2922-BF05CC7D3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45" y="1767743"/>
            <a:ext cx="7587845" cy="26145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6383A2-36C7-3AA0-FB62-67DE11817C75}"/>
              </a:ext>
            </a:extLst>
          </p:cNvPr>
          <p:cNvSpPr txBox="1"/>
          <p:nvPr/>
        </p:nvSpPr>
        <p:spPr>
          <a:xfrm>
            <a:off x="421889" y="1245990"/>
            <a:ext cx="475413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File Organization:</a:t>
            </a:r>
          </a:p>
        </p:txBody>
      </p:sp>
    </p:spTree>
    <p:extLst>
      <p:ext uri="{BB962C8B-B14F-4D97-AF65-F5344CB8AC3E}">
        <p14:creationId xmlns:p14="http://schemas.microsoft.com/office/powerpoint/2010/main" val="656897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C2EC8D2E-B801-BE18-140C-2E899A918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>
            <a:extLst>
              <a:ext uri="{FF2B5EF4-FFF2-40B4-BE49-F238E27FC236}">
                <a16:creationId xmlns:a16="http://schemas.microsoft.com/office/drawing/2014/main" id="{B2E90440-B2D8-5D73-BB8B-D35E1D210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6799" y="2325725"/>
            <a:ext cx="4810517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OUTPUT EXAMPLE</a:t>
            </a:r>
            <a:endParaRPr dirty="0"/>
          </a:p>
        </p:txBody>
      </p:sp>
      <p:sp>
        <p:nvSpPr>
          <p:cNvPr id="740" name="Google Shape;740;p32">
            <a:extLst>
              <a:ext uri="{FF2B5EF4-FFF2-40B4-BE49-F238E27FC236}">
                <a16:creationId xmlns:a16="http://schemas.microsoft.com/office/drawing/2014/main" id="{CA462493-2A67-4AB0-77AF-0852D2C12CE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731276" y="2221607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741" name="Google Shape;741;p32">
            <a:extLst>
              <a:ext uri="{FF2B5EF4-FFF2-40B4-BE49-F238E27FC236}">
                <a16:creationId xmlns:a16="http://schemas.microsoft.com/office/drawing/2014/main" id="{AF8731B2-C2B8-8398-AC29-D18C2CA22649}"/>
              </a:ext>
            </a:extLst>
          </p:cNvPr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>
            <a:extLst>
              <a:ext uri="{FF2B5EF4-FFF2-40B4-BE49-F238E27FC236}">
                <a16:creationId xmlns:a16="http://schemas.microsoft.com/office/drawing/2014/main" id="{F8010CA4-9C6D-4E9F-E17F-54A8473F52F0}"/>
              </a:ext>
            </a:extLst>
          </p:cNvPr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>
            <a:extLst>
              <a:ext uri="{FF2B5EF4-FFF2-40B4-BE49-F238E27FC236}">
                <a16:creationId xmlns:a16="http://schemas.microsoft.com/office/drawing/2014/main" id="{F6563ED9-4BF1-9CCB-E495-FB2E2E33A89C}"/>
              </a:ext>
            </a:extLst>
          </p:cNvPr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>
              <a:extLst>
                <a:ext uri="{FF2B5EF4-FFF2-40B4-BE49-F238E27FC236}">
                  <a16:creationId xmlns:a16="http://schemas.microsoft.com/office/drawing/2014/main" id="{DF2ED2A0-4A12-56BD-0869-486DC78CE495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>
              <a:extLst>
                <a:ext uri="{FF2B5EF4-FFF2-40B4-BE49-F238E27FC236}">
                  <a16:creationId xmlns:a16="http://schemas.microsoft.com/office/drawing/2014/main" id="{A6BDD6A6-089B-E6A5-8E8D-C1CA879EBE99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>
              <a:extLst>
                <a:ext uri="{FF2B5EF4-FFF2-40B4-BE49-F238E27FC236}">
                  <a16:creationId xmlns:a16="http://schemas.microsoft.com/office/drawing/2014/main" id="{BCD66420-94B1-4EAD-BF20-FCFE8302EA8E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>
            <a:extLst>
              <a:ext uri="{FF2B5EF4-FFF2-40B4-BE49-F238E27FC236}">
                <a16:creationId xmlns:a16="http://schemas.microsoft.com/office/drawing/2014/main" id="{D4F4FD86-AB08-A226-25DE-0191FCB2CCDB}"/>
              </a:ext>
            </a:extLst>
          </p:cNvPr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>
              <a:extLst>
                <a:ext uri="{FF2B5EF4-FFF2-40B4-BE49-F238E27FC236}">
                  <a16:creationId xmlns:a16="http://schemas.microsoft.com/office/drawing/2014/main" id="{AE72F1B2-61D1-F3DC-EA5E-D90EF3F3F2BB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>
              <a:extLst>
                <a:ext uri="{FF2B5EF4-FFF2-40B4-BE49-F238E27FC236}">
                  <a16:creationId xmlns:a16="http://schemas.microsoft.com/office/drawing/2014/main" id="{89763B54-5B4A-59EA-6A44-C0488FF8C64A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>
              <a:extLst>
                <a:ext uri="{FF2B5EF4-FFF2-40B4-BE49-F238E27FC236}">
                  <a16:creationId xmlns:a16="http://schemas.microsoft.com/office/drawing/2014/main" id="{E8FC9B13-E897-C9B1-335D-D0D2FA2BF477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>
            <a:extLst>
              <a:ext uri="{FF2B5EF4-FFF2-40B4-BE49-F238E27FC236}">
                <a16:creationId xmlns:a16="http://schemas.microsoft.com/office/drawing/2014/main" id="{E9C43D1D-80F7-3858-5E8E-83B2DC5C6EAE}"/>
              </a:ext>
            </a:extLst>
          </p:cNvPr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>
            <a:extLst>
              <a:ext uri="{FF2B5EF4-FFF2-40B4-BE49-F238E27FC236}">
                <a16:creationId xmlns:a16="http://schemas.microsoft.com/office/drawing/2014/main" id="{B808EB10-E87D-C98E-8455-1CB370D3ABA6}"/>
              </a:ext>
            </a:extLst>
          </p:cNvPr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>
              <a:extLst>
                <a:ext uri="{FF2B5EF4-FFF2-40B4-BE49-F238E27FC236}">
                  <a16:creationId xmlns:a16="http://schemas.microsoft.com/office/drawing/2014/main" id="{36190E44-3586-D793-9D78-5E0F775386C9}"/>
                </a:ext>
              </a:extLst>
            </p:cNvPr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>
              <a:extLst>
                <a:ext uri="{FF2B5EF4-FFF2-40B4-BE49-F238E27FC236}">
                  <a16:creationId xmlns:a16="http://schemas.microsoft.com/office/drawing/2014/main" id="{CF284F7E-920F-7CBC-7931-110544871F5B}"/>
                </a:ext>
              </a:extLst>
            </p:cNvPr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>
              <a:extLst>
                <a:ext uri="{FF2B5EF4-FFF2-40B4-BE49-F238E27FC236}">
                  <a16:creationId xmlns:a16="http://schemas.microsoft.com/office/drawing/2014/main" id="{8A7BAF28-9445-49C7-05D1-7F4A1BAD71E7}"/>
                </a:ext>
              </a:extLst>
            </p:cNvPr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25874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3FBEDB87-E69C-6378-FFBC-0EE69EE5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D09813AB-50EC-4D4B-3690-3019A1FC7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3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OUTPUT EXAMPLES: 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F92FF220-97B6-A840-F710-9DAB15CBE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40FE75-A459-CA82-BDE1-E0D3410281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80" y="1782192"/>
            <a:ext cx="3333285" cy="27922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53BE68-2891-A01A-2587-B45AFD7D5011}"/>
              </a:ext>
            </a:extLst>
          </p:cNvPr>
          <p:cNvSpPr txBox="1"/>
          <p:nvPr/>
        </p:nvSpPr>
        <p:spPr>
          <a:xfrm>
            <a:off x="-333886" y="1306716"/>
            <a:ext cx="475413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ON START-UP: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5BA34-1BF9-8045-B7EC-DA18A2BD52E7}"/>
              </a:ext>
            </a:extLst>
          </p:cNvPr>
          <p:cNvSpPr txBox="1"/>
          <p:nvPr/>
        </p:nvSpPr>
        <p:spPr>
          <a:xfrm>
            <a:off x="4249361" y="1306717"/>
            <a:ext cx="475413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AFTER CLICKING REVEAL BUTTON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73E77F-CCFB-40C0-86E9-0D824FEB9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319" y="1782192"/>
            <a:ext cx="3358139" cy="27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828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CEAD96AC-180C-204B-BF4D-D9B11FAF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01066862-C66F-D944-6B31-3CBC06BCCB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3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OUTPUT EXAMPLES: 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35D96FA3-4F45-AB3B-EBA9-F93B4AD9E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2007F-C7A9-AC2A-CE3D-530462E4CBA0}"/>
              </a:ext>
            </a:extLst>
          </p:cNvPr>
          <p:cNvSpPr txBox="1"/>
          <p:nvPr/>
        </p:nvSpPr>
        <p:spPr>
          <a:xfrm>
            <a:off x="1928699" y="1227165"/>
            <a:ext cx="475413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AFTER CLICKING NEXT BUTTON: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77A77A-36B4-7BA5-A544-9D14B39FD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685" y="1804359"/>
            <a:ext cx="3688163" cy="306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85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>
          <a:extLst>
            <a:ext uri="{FF2B5EF4-FFF2-40B4-BE49-F238E27FC236}">
              <a16:creationId xmlns:a16="http://schemas.microsoft.com/office/drawing/2014/main" id="{EC36D621-B1ED-0DDC-9CCD-47413FF1C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>
            <a:extLst>
              <a:ext uri="{FF2B5EF4-FFF2-40B4-BE49-F238E27FC236}">
                <a16:creationId xmlns:a16="http://schemas.microsoft.com/office/drawing/2014/main" id="{79B517CC-8307-351D-B4C8-86BFAC520D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6799" y="2325725"/>
            <a:ext cx="4810517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FUTURE SCOPE</a:t>
            </a:r>
            <a:endParaRPr dirty="0"/>
          </a:p>
        </p:txBody>
      </p:sp>
      <p:sp>
        <p:nvSpPr>
          <p:cNvPr id="740" name="Google Shape;740;p32">
            <a:extLst>
              <a:ext uri="{FF2B5EF4-FFF2-40B4-BE49-F238E27FC236}">
                <a16:creationId xmlns:a16="http://schemas.microsoft.com/office/drawing/2014/main" id="{C486D8D7-9242-EF41-C138-945984814AF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731276" y="2221607"/>
            <a:ext cx="13431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741" name="Google Shape;741;p32">
            <a:extLst>
              <a:ext uri="{FF2B5EF4-FFF2-40B4-BE49-F238E27FC236}">
                <a16:creationId xmlns:a16="http://schemas.microsoft.com/office/drawing/2014/main" id="{BAD38C56-3B81-AB51-BC9F-09AED23C8167}"/>
              </a:ext>
            </a:extLst>
          </p:cNvPr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>
            <a:extLst>
              <a:ext uri="{FF2B5EF4-FFF2-40B4-BE49-F238E27FC236}">
                <a16:creationId xmlns:a16="http://schemas.microsoft.com/office/drawing/2014/main" id="{832A8B2E-DBB5-A3D8-1ECF-2D279A147F63}"/>
              </a:ext>
            </a:extLst>
          </p:cNvPr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>
            <a:extLst>
              <a:ext uri="{FF2B5EF4-FFF2-40B4-BE49-F238E27FC236}">
                <a16:creationId xmlns:a16="http://schemas.microsoft.com/office/drawing/2014/main" id="{B11A0532-C89D-8124-B212-D1BE016CE5EF}"/>
              </a:ext>
            </a:extLst>
          </p:cNvPr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>
              <a:extLst>
                <a:ext uri="{FF2B5EF4-FFF2-40B4-BE49-F238E27FC236}">
                  <a16:creationId xmlns:a16="http://schemas.microsoft.com/office/drawing/2014/main" id="{2200B761-169B-B747-5062-664BDA675370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>
              <a:extLst>
                <a:ext uri="{FF2B5EF4-FFF2-40B4-BE49-F238E27FC236}">
                  <a16:creationId xmlns:a16="http://schemas.microsoft.com/office/drawing/2014/main" id="{A98EC29D-009D-00ED-2499-3C4801223B2A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>
              <a:extLst>
                <a:ext uri="{FF2B5EF4-FFF2-40B4-BE49-F238E27FC236}">
                  <a16:creationId xmlns:a16="http://schemas.microsoft.com/office/drawing/2014/main" id="{9532F496-0C74-5A68-6026-818D7B48A4F5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>
            <a:extLst>
              <a:ext uri="{FF2B5EF4-FFF2-40B4-BE49-F238E27FC236}">
                <a16:creationId xmlns:a16="http://schemas.microsoft.com/office/drawing/2014/main" id="{BA77420E-74F7-E9EF-612F-A3A65960B76F}"/>
              </a:ext>
            </a:extLst>
          </p:cNvPr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>
              <a:extLst>
                <a:ext uri="{FF2B5EF4-FFF2-40B4-BE49-F238E27FC236}">
                  <a16:creationId xmlns:a16="http://schemas.microsoft.com/office/drawing/2014/main" id="{666B3FE7-5C86-40BB-8FD3-A5A7EBD9673D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>
              <a:extLst>
                <a:ext uri="{FF2B5EF4-FFF2-40B4-BE49-F238E27FC236}">
                  <a16:creationId xmlns:a16="http://schemas.microsoft.com/office/drawing/2014/main" id="{3C4A42EE-9AB3-3CBB-98DD-DB538D1944A1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>
              <a:extLst>
                <a:ext uri="{FF2B5EF4-FFF2-40B4-BE49-F238E27FC236}">
                  <a16:creationId xmlns:a16="http://schemas.microsoft.com/office/drawing/2014/main" id="{ACDC0ABF-61B3-9E2E-D191-6FB4F61F045F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>
            <a:extLst>
              <a:ext uri="{FF2B5EF4-FFF2-40B4-BE49-F238E27FC236}">
                <a16:creationId xmlns:a16="http://schemas.microsoft.com/office/drawing/2014/main" id="{00B93390-A739-3D97-F237-2E5E7EC18ACD}"/>
              </a:ext>
            </a:extLst>
          </p:cNvPr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>
            <a:extLst>
              <a:ext uri="{FF2B5EF4-FFF2-40B4-BE49-F238E27FC236}">
                <a16:creationId xmlns:a16="http://schemas.microsoft.com/office/drawing/2014/main" id="{784F9886-F78D-8520-585C-A5BE659BC458}"/>
              </a:ext>
            </a:extLst>
          </p:cNvPr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>
              <a:extLst>
                <a:ext uri="{FF2B5EF4-FFF2-40B4-BE49-F238E27FC236}">
                  <a16:creationId xmlns:a16="http://schemas.microsoft.com/office/drawing/2014/main" id="{FBE7F056-55BA-CF0F-D03C-29B807C4992D}"/>
                </a:ext>
              </a:extLst>
            </p:cNvPr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>
              <a:extLst>
                <a:ext uri="{FF2B5EF4-FFF2-40B4-BE49-F238E27FC236}">
                  <a16:creationId xmlns:a16="http://schemas.microsoft.com/office/drawing/2014/main" id="{D1AE59B8-4AB6-EC4B-5628-CD7DC6D5DBDD}"/>
                </a:ext>
              </a:extLst>
            </p:cNvPr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>
              <a:extLst>
                <a:ext uri="{FF2B5EF4-FFF2-40B4-BE49-F238E27FC236}">
                  <a16:creationId xmlns:a16="http://schemas.microsoft.com/office/drawing/2014/main" id="{2C7FAF8B-FDEE-5380-5FF2-4A530D9F2C09}"/>
                </a:ext>
              </a:extLst>
            </p:cNvPr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30145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>
          <a:extLst>
            <a:ext uri="{FF2B5EF4-FFF2-40B4-BE49-F238E27FC236}">
              <a16:creationId xmlns:a16="http://schemas.microsoft.com/office/drawing/2014/main" id="{5CB242EC-345A-A3CC-A4FA-5ECDB0C9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5">
            <a:extLst>
              <a:ext uri="{FF2B5EF4-FFF2-40B4-BE49-F238E27FC236}">
                <a16:creationId xmlns:a16="http://schemas.microsoft.com/office/drawing/2014/main" id="{70DD17EB-138A-CF04-26D7-9368BC4D61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3732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CONCLUSION &amp; FUTURE SCOPE</a:t>
            </a:r>
            <a:endParaRPr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96BAACFD-4157-5AB6-5A7F-E7F75D7BC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45" y="4768327"/>
            <a:ext cx="75878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BF802-7382-D1F5-2F2E-4ED0DDA1B193}"/>
              </a:ext>
            </a:extLst>
          </p:cNvPr>
          <p:cNvSpPr txBox="1"/>
          <p:nvPr/>
        </p:nvSpPr>
        <p:spPr>
          <a:xfrm>
            <a:off x="511845" y="1164776"/>
            <a:ext cx="75878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The Vocabulary Flash Card App is a simple yet practical educational project.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It demonstrates how C++ Builder can be used to create user-friendly applications that combine logic and visual </a:t>
            </a:r>
            <a:r>
              <a:rPr lang="en-US" sz="1600" dirty="0" err="1">
                <a:solidFill>
                  <a:schemeClr val="tx1"/>
                </a:solidFill>
              </a:rPr>
              <a:t>design.It</a:t>
            </a:r>
            <a:r>
              <a:rPr lang="en-US" sz="1600" dirty="0">
                <a:solidFill>
                  <a:schemeClr val="tx1"/>
                </a:solidFill>
              </a:rPr>
              <a:t> also helps in learning essential programming concepts like file handling, randomization, and event-driven GUI programming.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165958-6AB2-0CDD-4AE2-B384F502EA83}"/>
              </a:ext>
            </a:extLst>
          </p:cNvPr>
          <p:cNvSpPr txBox="1"/>
          <p:nvPr/>
        </p:nvSpPr>
        <p:spPr>
          <a:xfrm>
            <a:off x="511845" y="2794164"/>
            <a:ext cx="4754136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Future Enhancements:</a:t>
            </a:r>
            <a:endParaRPr lang="en-US" sz="14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Add progress tracking or scoring for correct answers.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Allow users to add or edit custom word lists.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 search and category-based filtering.</a:t>
            </a:r>
          </a:p>
          <a:p>
            <a:pPr marL="285750" indent="-285750">
              <a:lnSpc>
                <a:spcPct val="150000"/>
              </a:lnSpc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Modernize UI with animations or sound feedback.</a:t>
            </a:r>
          </a:p>
        </p:txBody>
      </p:sp>
    </p:spTree>
    <p:extLst>
      <p:ext uri="{BB962C8B-B14F-4D97-AF65-F5344CB8AC3E}">
        <p14:creationId xmlns:p14="http://schemas.microsoft.com/office/powerpoint/2010/main" val="2182593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38"/>
          <p:cNvGrpSpPr/>
          <p:nvPr/>
        </p:nvGrpSpPr>
        <p:grpSpPr>
          <a:xfrm flipH="1">
            <a:off x="5252081" y="429752"/>
            <a:ext cx="4791669" cy="923822"/>
            <a:chOff x="-78438" y="3775205"/>
            <a:chExt cx="4791669" cy="923822"/>
          </a:xfrm>
        </p:grpSpPr>
        <p:cxnSp>
          <p:nvCxnSpPr>
            <p:cNvPr id="894" name="Google Shape;894;p3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5" name="Google Shape;895;p3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96" name="Google Shape;896;p3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7" name="Google Shape;897;p38"/>
          <p:cNvSpPr/>
          <p:nvPr/>
        </p:nvSpPr>
        <p:spPr>
          <a:xfrm>
            <a:off x="928558" y="-516457"/>
            <a:ext cx="43116" cy="474994"/>
          </a:xfrm>
          <a:custGeom>
            <a:avLst/>
            <a:gdLst/>
            <a:ahLst/>
            <a:cxnLst/>
            <a:rect l="l" t="t" r="r" b="b"/>
            <a:pathLst>
              <a:path w="754" h="8307" fill="none" extrusionOk="0">
                <a:moveTo>
                  <a:pt x="391" y="8307"/>
                </a:moveTo>
                <a:lnTo>
                  <a:pt x="391" y="8307"/>
                </a:lnTo>
                <a:cubicBezTo>
                  <a:pt x="181" y="8307"/>
                  <a:pt x="0" y="8155"/>
                  <a:pt x="0" y="7944"/>
                </a:cubicBezTo>
                <a:lnTo>
                  <a:pt x="0" y="363"/>
                </a:lnTo>
                <a:cubicBezTo>
                  <a:pt x="0" y="182"/>
                  <a:pt x="181" y="1"/>
                  <a:pt x="391" y="1"/>
                </a:cubicBezTo>
                <a:lnTo>
                  <a:pt x="391" y="1"/>
                </a:lnTo>
                <a:cubicBezTo>
                  <a:pt x="573" y="1"/>
                  <a:pt x="754" y="182"/>
                  <a:pt x="754" y="363"/>
                </a:cubicBezTo>
                <a:lnTo>
                  <a:pt x="754" y="7944"/>
                </a:lnTo>
                <a:cubicBezTo>
                  <a:pt x="754" y="8155"/>
                  <a:pt x="573" y="8307"/>
                  <a:pt x="391" y="8307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724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8" name="Google Shape;898;p38"/>
          <p:cNvGrpSpPr/>
          <p:nvPr/>
        </p:nvGrpSpPr>
        <p:grpSpPr>
          <a:xfrm>
            <a:off x="-2522039" y="3127329"/>
            <a:ext cx="3859204" cy="615399"/>
            <a:chOff x="-6675" y="307100"/>
            <a:chExt cx="9140700" cy="4634025"/>
          </a:xfrm>
        </p:grpSpPr>
        <p:cxnSp>
          <p:nvCxnSpPr>
            <p:cNvPr id="899" name="Google Shape;899;p38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0" name="Google Shape;900;p38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1" name="Google Shape;901;p38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2" name="Google Shape;902;p38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3" name="Google Shape;903;p38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4" name="Google Shape;904;p38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5" name="Google Shape;905;p38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6" name="Google Shape;906;p38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7" name="Google Shape;907;p38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8" name="Google Shape;908;p38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09" name="Google Shape;909;p38"/>
          <p:cNvSpPr/>
          <p:nvPr/>
        </p:nvSpPr>
        <p:spPr>
          <a:xfrm rot="-5400000">
            <a:off x="-1516637" y="124704"/>
            <a:ext cx="6471825" cy="764225"/>
          </a:xfrm>
          <a:custGeom>
            <a:avLst/>
            <a:gdLst/>
            <a:ahLst/>
            <a:cxnLst/>
            <a:rect l="l" t="t" r="r" b="b"/>
            <a:pathLst>
              <a:path w="258873" h="30569" extrusionOk="0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5422D0-F99B-29D2-C232-D6D11572379E}"/>
              </a:ext>
            </a:extLst>
          </p:cNvPr>
          <p:cNvSpPr txBox="1"/>
          <p:nvPr/>
        </p:nvSpPr>
        <p:spPr>
          <a:xfrm>
            <a:off x="2587975" y="2110085"/>
            <a:ext cx="35820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Raleway Black" pitchFamily="2" charset="0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736</Words>
  <Application>Microsoft Office PowerPoint</Application>
  <PresentationFormat>On-screen Show (16:9)</PresentationFormat>
  <Paragraphs>130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Raleway ExtraBold</vt:lpstr>
      <vt:lpstr>Arial</vt:lpstr>
      <vt:lpstr>Raleway Medium</vt:lpstr>
      <vt:lpstr>Arial Unicode MS</vt:lpstr>
      <vt:lpstr>Hanken Grotesk</vt:lpstr>
      <vt:lpstr>Anaheim</vt:lpstr>
      <vt:lpstr>Raleway Black</vt:lpstr>
      <vt:lpstr>Technology Market Research Pitch Deck by Slidesgo</vt:lpstr>
      <vt:lpstr>Project – I :  VocabFlash App</vt:lpstr>
      <vt:lpstr>Project-I : VocabFlash Course Code: ICT 1200</vt:lpstr>
      <vt:lpstr>TABLE OF CONTENTS</vt:lpstr>
      <vt:lpstr>TABLE OF CONTENTS</vt:lpstr>
      <vt:lpstr>INTRODUCTION</vt:lpstr>
      <vt:lpstr>INTRODUCTION</vt:lpstr>
      <vt:lpstr>Main Ideas OF VocabFlash:</vt:lpstr>
      <vt:lpstr>OBJECTIVES</vt:lpstr>
      <vt:lpstr>OBJECTIVES</vt:lpstr>
      <vt:lpstr>TOOLS &amp; TECH USED</vt:lpstr>
      <vt:lpstr>TOOLS &amp; TECHNOLOGIES USED: </vt:lpstr>
      <vt:lpstr>APPLICATION LOGIC</vt:lpstr>
      <vt:lpstr>APPLICATION LOGIC</vt:lpstr>
      <vt:lpstr>APPLICATION LOGIC</vt:lpstr>
      <vt:lpstr>Features &amp; Interface Design:</vt:lpstr>
      <vt:lpstr>Features &amp; Interface:</vt:lpstr>
      <vt:lpstr>Features &amp; Interface:</vt:lpstr>
      <vt:lpstr>File Handling and Data Structure</vt:lpstr>
      <vt:lpstr>File handling &amp; Data Structure:</vt:lpstr>
      <vt:lpstr>File handling &amp; Data Structure:</vt:lpstr>
      <vt:lpstr>File handling &amp; Data Structure:</vt:lpstr>
      <vt:lpstr>OUTPUT EXAMPLE</vt:lpstr>
      <vt:lpstr>OUTPUT EXAMPLES: </vt:lpstr>
      <vt:lpstr>OUTPUT EXAMPLES: </vt:lpstr>
      <vt:lpstr>CONCLUSION &amp; FUTURE SCOPE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Ishtiak_Ahmed Ayon</dc:creator>
  <cp:lastModifiedBy>Ishtiak_Ahmed Ayon</cp:lastModifiedBy>
  <cp:revision>5</cp:revision>
  <dcterms:modified xsi:type="dcterms:W3CDTF">2025-10-14T09:16:26Z</dcterms:modified>
</cp:coreProperties>
</file>